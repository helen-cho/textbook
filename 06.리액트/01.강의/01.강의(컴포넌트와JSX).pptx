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0"/>
  </p:notesMasterIdLst>
  <p:sldIdLst>
    <p:sldId id="266" r:id="rId2"/>
    <p:sldId id="260" r:id="rId3"/>
    <p:sldId id="258" r:id="rId4"/>
    <p:sldId id="259" r:id="rId5"/>
    <p:sldId id="257" r:id="rId6"/>
    <p:sldId id="264" r:id="rId7"/>
    <p:sldId id="265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552" autoAdjust="0"/>
  </p:normalViewPr>
  <p:slideViewPr>
    <p:cSldViewPr snapToGrid="0">
      <p:cViewPr varScale="1">
        <p:scale>
          <a:sx n="74" d="100"/>
          <a:sy n="74" d="100"/>
        </p:scale>
        <p:origin x="2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D20DE-EA52-436A-AD24-6E2A76FCFA4E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1F003-16CA-49B6-9EC2-9AC8D21DD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88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05780-F2FC-15EC-629F-7C62C4EF7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460504-FDE8-378C-A9DF-537657386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8BCC3D-6753-042D-8BB0-3FF858CD4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04E0D5-C4C7-0711-15D0-D0668288C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011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9FDCF-C615-0E91-8ADC-2D362CD4D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AC1AA9-3A45-7AA9-0E1F-0B8210CA4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7A9913-F809-BE4F-5115-DF1D0CD71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03EB1E-9CF2-20CF-86CA-43C50DC9E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732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D4B0D-D9AD-FD95-9FB9-F00858B8D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3BEEAE-8149-AA58-C414-C02718022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541586-2675-5B6E-7A1E-0184B51ED4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66E846-A5F1-317F-9765-E709691BC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490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07174-31D1-6FC7-DBB1-435FADC62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79A8A3-1872-1A28-3AD4-822034BCB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6BC764-00B7-78BC-6E22-9127C1205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88A3EF-C1BD-2DE2-704E-8120E1A163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293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6D5F7-1259-7061-996B-1EE083E03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F2920D-48B4-8C45-3426-53D05757E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8F0AAE-8F9B-74C7-8CBD-C1EC0CAE2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746B03-015C-7EA3-FAB5-D7FBCA654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251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6566B-156B-CFCE-42AA-7A890B7E8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DE1D84-4901-65CF-1A39-8E45D36FE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4264E7-C88D-CEEC-DADD-02659C79A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EDDE7A-9708-8ED5-D072-79F69B46E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723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CF0B4-612A-39DD-90FC-CF723DD0F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C9E961-B475-8AB8-B184-3C0D6BF45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7FAAEB-9DA7-1211-1322-8FCE960C8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3BE550-617E-989C-50EA-8DD486A11F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814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569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9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705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13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70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37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459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32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643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399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565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615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ko/downloa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hyperlink" Target="https://code.visualstudio.com/downloa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67AE6D-E14F-7CAA-82B8-8E22C9D032BE}"/>
              </a:ext>
            </a:extLst>
          </p:cNvPr>
          <p:cNvSpPr txBox="1"/>
          <p:nvPr/>
        </p:nvSpPr>
        <p:spPr>
          <a:xfrm>
            <a:off x="0" y="2617851"/>
            <a:ext cx="12192000" cy="797311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pPr algn="ctr"/>
            <a:r>
              <a:rPr lang="ko-KR" altLang="en-US" sz="4000" b="1" dirty="0" err="1">
                <a:solidFill>
                  <a:srgbClr val="FFFF00"/>
                </a:solidFill>
                <a:latin typeface="+mj-ea"/>
              </a:rPr>
              <a:t>리액트</a:t>
            </a:r>
            <a:r>
              <a:rPr lang="ko-KR" altLang="en-US" sz="4000" b="1" dirty="0" err="1">
                <a:latin typeface="+mj-ea"/>
              </a:rPr>
              <a:t>와</a:t>
            </a:r>
            <a:r>
              <a:rPr lang="ko-KR" altLang="en-US" sz="4000" b="1" dirty="0">
                <a:latin typeface="+mj-ea"/>
              </a:rPr>
              <a:t> </a:t>
            </a:r>
            <a:r>
              <a:rPr lang="ko-KR" altLang="en-US" sz="4000" b="1" dirty="0" err="1">
                <a:solidFill>
                  <a:srgbClr val="FFFF00"/>
                </a:solidFill>
                <a:latin typeface="+mj-ea"/>
              </a:rPr>
              <a:t>파이어베이스</a:t>
            </a:r>
            <a:r>
              <a:rPr lang="ko-KR" altLang="en-US" sz="4000" b="1" dirty="0" err="1">
                <a:latin typeface="+mj-ea"/>
              </a:rPr>
              <a:t>를</a:t>
            </a:r>
            <a:r>
              <a:rPr lang="ko-KR" altLang="en-US" sz="4000" b="1" dirty="0">
                <a:latin typeface="+mj-ea"/>
              </a:rPr>
              <a:t> 활용한 </a:t>
            </a:r>
            <a:r>
              <a:rPr lang="ko-KR" altLang="en-US" sz="4000" b="1" dirty="0" err="1">
                <a:solidFill>
                  <a:srgbClr val="FFFF00"/>
                </a:solidFill>
                <a:latin typeface="+mj-ea"/>
              </a:rPr>
              <a:t>풀스택</a:t>
            </a:r>
            <a:r>
              <a:rPr lang="ko-KR" altLang="en-US" sz="4000" b="1" dirty="0">
                <a:latin typeface="+mj-ea"/>
              </a:rPr>
              <a:t> 개발</a:t>
            </a:r>
            <a:endParaRPr lang="en-US" altLang="ko-KR" sz="4000" b="1" dirty="0">
              <a:latin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6BE12A7D-7F28-4813-6E2E-9AFE07EC0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DB5987-A27C-504A-02B1-F69907A0F7E5}"/>
              </a:ext>
            </a:extLst>
          </p:cNvPr>
          <p:cNvSpPr txBox="1"/>
          <p:nvPr/>
        </p:nvSpPr>
        <p:spPr>
          <a:xfrm>
            <a:off x="1653569" y="375293"/>
            <a:ext cx="25992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>
                <a:latin typeface="+mj-ea"/>
                <a:ea typeface="+mj-ea"/>
              </a:rPr>
              <a:t>과정명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90379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352CB-C1E9-3DBE-62A6-0CA2ABEF5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E2537999-8A5B-C944-7498-607BB75A1D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B17AF2-525D-93D4-C75C-11AEF4DA5FBF}"/>
              </a:ext>
            </a:extLst>
          </p:cNvPr>
          <p:cNvSpPr txBox="1"/>
          <p:nvPr/>
        </p:nvSpPr>
        <p:spPr>
          <a:xfrm>
            <a:off x="1653570" y="375293"/>
            <a:ext cx="17130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>
                <a:latin typeface="+mj-ea"/>
                <a:ea typeface="+mj-ea"/>
              </a:rPr>
              <a:t>개요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448613-F9C8-5839-F789-535866EAC6C1}"/>
              </a:ext>
            </a:extLst>
          </p:cNvPr>
          <p:cNvSpPr txBox="1"/>
          <p:nvPr/>
        </p:nvSpPr>
        <p:spPr>
          <a:xfrm>
            <a:off x="1065305" y="1850100"/>
            <a:ext cx="10592649" cy="2643970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pPr marL="514350" indent="-514350">
              <a:buAutoNum type="arabicPeriod"/>
            </a:pPr>
            <a:r>
              <a:rPr lang="ko-KR" altLang="en-US" sz="3200" b="1" dirty="0" err="1">
                <a:latin typeface="+mj-ea"/>
                <a:ea typeface="+mj-ea"/>
              </a:rPr>
              <a:t>리액트의</a:t>
            </a:r>
            <a:r>
              <a:rPr lang="ko-KR" altLang="en-US" sz="3200" b="1" dirty="0">
                <a:latin typeface="+mj-ea"/>
                <a:ea typeface="+mj-ea"/>
              </a:rPr>
              <a:t>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  <a:ea typeface="+mj-ea"/>
              </a:rPr>
              <a:t>문법과 주요 기능</a:t>
            </a:r>
            <a:r>
              <a:rPr lang="ko-KR" altLang="en-US" sz="3200" b="1" dirty="0">
                <a:latin typeface="+mj-ea"/>
                <a:ea typeface="+mj-ea"/>
              </a:rPr>
              <a:t>을 학습한다</a:t>
            </a:r>
            <a:r>
              <a:rPr lang="en-US" altLang="ko-KR" sz="3200" b="1" dirty="0">
                <a:latin typeface="+mj-ea"/>
                <a:ea typeface="+mj-ea"/>
              </a:rPr>
              <a:t>.</a:t>
            </a:r>
          </a:p>
          <a:p>
            <a:pPr marL="514350" indent="-514350">
              <a:buAutoNum type="arabicPeriod"/>
            </a:pPr>
            <a:endParaRPr lang="en-US" altLang="ko-KR" sz="3200" b="1" dirty="0">
              <a:latin typeface="+mj-ea"/>
              <a:ea typeface="+mj-ea"/>
            </a:endParaRPr>
          </a:p>
          <a:p>
            <a:r>
              <a:rPr lang="en-US" altLang="ko-KR" sz="3200" b="1" dirty="0">
                <a:latin typeface="+mj-ea"/>
              </a:rPr>
              <a:t>2. </a:t>
            </a:r>
            <a:r>
              <a:rPr lang="ko-KR" altLang="en-US" sz="3200" b="1" dirty="0" err="1">
                <a:latin typeface="+mj-ea"/>
              </a:rPr>
              <a:t>리액트</a:t>
            </a:r>
            <a:r>
              <a:rPr lang="en-US" altLang="ko-KR" sz="3200" b="1" dirty="0">
                <a:latin typeface="+mj-ea"/>
              </a:rPr>
              <a:t> 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</a:rPr>
              <a:t>Bootstrap</a:t>
            </a:r>
            <a:r>
              <a:rPr lang="ko-KR" altLang="en-US" sz="3200" b="1" dirty="0">
                <a:latin typeface="+mj-ea"/>
              </a:rPr>
              <a:t>을 이용해 </a:t>
            </a:r>
            <a:r>
              <a:rPr lang="en-US" altLang="ko-KR" sz="3200" b="1" dirty="0">
                <a:latin typeface="+mj-ea"/>
              </a:rPr>
              <a:t>UI</a:t>
            </a:r>
            <a:r>
              <a:rPr lang="ko-KR" altLang="en-US" sz="3200" b="1" dirty="0">
                <a:latin typeface="+mj-ea"/>
              </a:rPr>
              <a:t>을 디자인한다</a:t>
            </a:r>
            <a:r>
              <a:rPr lang="en-US" altLang="ko-KR" sz="3200" b="1" dirty="0">
                <a:latin typeface="+mj-ea"/>
              </a:rPr>
              <a:t>.</a:t>
            </a:r>
          </a:p>
          <a:p>
            <a:endParaRPr lang="en-US" altLang="ko-KR" sz="3200" b="1" dirty="0">
              <a:latin typeface="+mj-ea"/>
            </a:endParaRPr>
          </a:p>
          <a:p>
            <a:r>
              <a:rPr lang="en-US" altLang="ko-KR" sz="3200" b="1" dirty="0">
                <a:latin typeface="+mj-ea"/>
              </a:rPr>
              <a:t>3. </a:t>
            </a:r>
            <a:r>
              <a:rPr lang="ko-KR" altLang="en-US" sz="3200" b="1" dirty="0">
                <a:latin typeface="+mj-ea"/>
              </a:rPr>
              <a:t>구글 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</a:rPr>
              <a:t>Firebase</a:t>
            </a:r>
            <a:r>
              <a:rPr lang="ko-KR" altLang="en-US" sz="3200" b="1" dirty="0">
                <a:latin typeface="+mj-ea"/>
              </a:rPr>
              <a:t>을 이용해 데이터베이스 작업을 한다</a:t>
            </a:r>
            <a:r>
              <a:rPr lang="en-US" altLang="ko-KR" sz="3200" b="1" dirty="0">
                <a:latin typeface="+mj-ea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68486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E0264-3151-E4CB-F859-B73F71629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1B173B-DDD3-ED38-317C-BE4DB97423B0}"/>
              </a:ext>
            </a:extLst>
          </p:cNvPr>
          <p:cNvSpPr txBox="1"/>
          <p:nvPr/>
        </p:nvSpPr>
        <p:spPr>
          <a:xfrm>
            <a:off x="1564669" y="442228"/>
            <a:ext cx="72535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 err="1">
                <a:latin typeface="+mj-ea"/>
                <a:ea typeface="+mj-ea"/>
              </a:rPr>
              <a:t>리액트</a:t>
            </a:r>
            <a:r>
              <a:rPr lang="en-US" altLang="ko-KR" sz="4400" b="1" dirty="0">
                <a:latin typeface="+mj-ea"/>
                <a:ea typeface="+mj-ea"/>
              </a:rPr>
              <a:t>(React) </a:t>
            </a:r>
            <a:r>
              <a:rPr lang="ko-KR" altLang="en-US" sz="4400" b="1" dirty="0">
                <a:latin typeface="+mj-ea"/>
                <a:ea typeface="+mj-ea"/>
              </a:rPr>
              <a:t>주요 특징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D892D7-B578-98D3-6259-BF9CA99CB529}"/>
              </a:ext>
            </a:extLst>
          </p:cNvPr>
          <p:cNvSpPr txBox="1"/>
          <p:nvPr/>
        </p:nvSpPr>
        <p:spPr>
          <a:xfrm>
            <a:off x="925630" y="1934735"/>
            <a:ext cx="998790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ko-KR" sz="3200" b="1" dirty="0">
                <a:latin typeface="+mj-ea"/>
                <a:ea typeface="+mj-ea"/>
              </a:rPr>
              <a:t>UI</a:t>
            </a:r>
            <a:r>
              <a:rPr lang="ko-KR" altLang="en-US" sz="3200" b="1" dirty="0">
                <a:latin typeface="+mj-ea"/>
                <a:ea typeface="+mj-ea"/>
              </a:rPr>
              <a:t>를 구축하기 위한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  <a:ea typeface="+mj-ea"/>
              </a:rPr>
              <a:t>자바스크립트 라이브러리</a:t>
            </a:r>
            <a:endParaRPr lang="en-US" altLang="ko-KR" sz="3200" b="1" dirty="0">
              <a:solidFill>
                <a:srgbClr val="FFFF00"/>
              </a:solidFill>
              <a:latin typeface="+mj-ea"/>
              <a:ea typeface="+mj-ea"/>
            </a:endParaRPr>
          </a:p>
          <a:p>
            <a:pPr marL="514350" indent="-514350">
              <a:buAutoNum type="arabicPeriod"/>
            </a:pPr>
            <a:endParaRPr lang="en-US" altLang="ko-KR" sz="3200" b="1" dirty="0">
              <a:solidFill>
                <a:srgbClr val="FFFF00"/>
              </a:solidFill>
              <a:latin typeface="+mj-ea"/>
              <a:ea typeface="+mj-ea"/>
            </a:endParaRPr>
          </a:p>
          <a:p>
            <a:pPr marL="514350" indent="-514350">
              <a:buFontTx/>
              <a:buAutoNum type="arabicPeriod"/>
            </a:pPr>
            <a:r>
              <a:rPr lang="en-US" altLang="ko-KR" sz="3200" b="1" dirty="0">
                <a:latin typeface="+mj-ea"/>
              </a:rPr>
              <a:t>UI</a:t>
            </a:r>
            <a:r>
              <a:rPr lang="ko-KR" altLang="en-US" sz="3200" b="1" dirty="0">
                <a:latin typeface="+mj-ea"/>
              </a:rPr>
              <a:t>를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컴포넌트</a:t>
            </a:r>
            <a:r>
              <a:rPr lang="ko-KR" altLang="en-US" sz="3200" b="1" dirty="0">
                <a:latin typeface="+mj-ea"/>
              </a:rPr>
              <a:t>라는 </a:t>
            </a:r>
            <a:r>
              <a:rPr lang="en-US" altLang="ko-KR" sz="3200" b="1" dirty="0">
                <a:latin typeface="+mj-ea"/>
              </a:rPr>
              <a:t>HTML</a:t>
            </a:r>
            <a:r>
              <a:rPr lang="ko-KR" altLang="en-US" sz="3200" b="1" dirty="0">
                <a:latin typeface="+mj-ea"/>
              </a:rPr>
              <a:t>을 생성하는 함수로 작성</a:t>
            </a:r>
            <a:endParaRPr lang="en-US" altLang="ko-KR" sz="3200" b="1" dirty="0">
              <a:latin typeface="+mj-ea"/>
            </a:endParaRPr>
          </a:p>
          <a:p>
            <a:pPr marL="514350" indent="-514350">
              <a:buFontTx/>
              <a:buAutoNum type="arabicPeriod"/>
            </a:pPr>
            <a:endParaRPr lang="en-US" altLang="ko-KR" sz="3200" b="1" dirty="0">
              <a:latin typeface="+mj-ea"/>
            </a:endParaRPr>
          </a:p>
          <a:p>
            <a:pPr marL="514350" indent="-514350">
              <a:buFontTx/>
              <a:buAutoNum type="arabicPeriod"/>
            </a:pPr>
            <a:r>
              <a:rPr lang="ko-KR" altLang="en-US" sz="3200" b="1" dirty="0">
                <a:latin typeface="+mj-ea"/>
              </a:rPr>
              <a:t>한 개의 페이지로 이루어진 애플리케이션 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</a:rPr>
              <a:t>SPA</a:t>
            </a:r>
          </a:p>
          <a:p>
            <a:pPr marL="514350" indent="-514350">
              <a:buFontTx/>
              <a:buAutoNum type="arabicPeriod"/>
            </a:pPr>
            <a:endParaRPr lang="en-US" altLang="ko-KR" sz="3200" b="1" dirty="0">
              <a:solidFill>
                <a:srgbClr val="FFFF00"/>
              </a:solidFill>
              <a:latin typeface="+mj-ea"/>
            </a:endParaRPr>
          </a:p>
          <a:p>
            <a:pPr marL="514350" indent="-514350">
              <a:buFontTx/>
              <a:buAutoNum type="arabicPeriod"/>
            </a:pPr>
            <a:r>
              <a:rPr lang="ko-KR" altLang="en-US" sz="3200" b="1" dirty="0">
                <a:latin typeface="+mj-ea"/>
              </a:rPr>
              <a:t>변경된 데이터만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 </a:t>
            </a:r>
            <a:r>
              <a:rPr lang="ko-KR" altLang="en-US" sz="3200" b="1" dirty="0">
                <a:latin typeface="+mj-ea"/>
              </a:rPr>
              <a:t>렌더링하여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 빠른 렌더링</a:t>
            </a:r>
            <a:r>
              <a:rPr lang="ko-KR" altLang="en-US" sz="3200" b="1" dirty="0">
                <a:latin typeface="+mj-ea"/>
              </a:rPr>
              <a:t>이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 </a:t>
            </a:r>
            <a:r>
              <a:rPr lang="ko-KR" altLang="en-US" sz="3200" b="1" dirty="0">
                <a:latin typeface="+mj-ea"/>
              </a:rPr>
              <a:t>가능</a:t>
            </a:r>
            <a:endParaRPr lang="en-US" altLang="ko-KR" sz="3200" b="1" dirty="0">
              <a:latin typeface="+mj-ea"/>
            </a:endParaRP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08521C1D-B675-0D2D-2CEC-E6CE84FBC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96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94780-CCA5-8287-686C-E337E35BE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E049B8-0E43-F045-DC0F-3E6A5908F111}"/>
              </a:ext>
            </a:extLst>
          </p:cNvPr>
          <p:cNvSpPr txBox="1"/>
          <p:nvPr/>
        </p:nvSpPr>
        <p:spPr>
          <a:xfrm>
            <a:off x="1564669" y="442228"/>
            <a:ext cx="72535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>
                <a:latin typeface="+mj-ea"/>
                <a:ea typeface="+mj-ea"/>
              </a:rPr>
              <a:t>개발환경 세팅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05428C-31C1-1809-7CF0-F5250753D0F7}"/>
              </a:ext>
            </a:extLst>
          </p:cNvPr>
          <p:cNvSpPr txBox="1"/>
          <p:nvPr/>
        </p:nvSpPr>
        <p:spPr>
          <a:xfrm>
            <a:off x="1089367" y="1790561"/>
            <a:ext cx="1013568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+mj-ea"/>
                <a:ea typeface="+mj-ea"/>
              </a:rPr>
              <a:t>1. 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  <a:ea typeface="+mj-ea"/>
              </a:rPr>
              <a:t>Node.js </a:t>
            </a:r>
            <a:r>
              <a:rPr lang="en-US" altLang="ko-KR" sz="3200" b="1" dirty="0">
                <a:latin typeface="+mj-ea"/>
                <a:ea typeface="+mj-ea"/>
              </a:rPr>
              <a:t>(</a:t>
            </a:r>
            <a:r>
              <a:rPr lang="ko-KR" altLang="en-US" sz="3200" b="1" dirty="0">
                <a:latin typeface="+mj-ea"/>
                <a:ea typeface="+mj-ea"/>
              </a:rPr>
              <a:t>자바스크립트 런타임환경</a:t>
            </a:r>
            <a:r>
              <a:rPr lang="en-US" altLang="ko-KR" sz="3200" b="1" dirty="0">
                <a:latin typeface="+mj-ea"/>
                <a:ea typeface="+mj-ea"/>
              </a:rPr>
              <a:t>)</a:t>
            </a:r>
            <a:r>
              <a:rPr lang="ko-KR" altLang="en-US" sz="3200" b="1" dirty="0">
                <a:latin typeface="+mj-ea"/>
                <a:ea typeface="+mj-ea"/>
              </a:rPr>
              <a:t>설치</a:t>
            </a:r>
            <a:endParaRPr lang="en-US" altLang="ko-KR" sz="3200" b="1" dirty="0">
              <a:latin typeface="+mj-ea"/>
              <a:ea typeface="+mj-ea"/>
            </a:endParaRPr>
          </a:p>
          <a:p>
            <a:r>
              <a:rPr lang="en-US" altLang="ko-KR" sz="3200" b="1" dirty="0">
                <a:solidFill>
                  <a:srgbClr val="FFFF00"/>
                </a:solidFill>
                <a:latin typeface="+mj-ea"/>
                <a:ea typeface="+mj-ea"/>
              </a:rPr>
              <a:t>   </a:t>
            </a:r>
            <a:r>
              <a:rPr lang="en-US" altLang="ko-KR" sz="3200" b="1" dirty="0">
                <a:latin typeface="+mj-ea"/>
                <a:ea typeface="+mj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https://nodejs.org/ko/download</a:t>
            </a:r>
            <a:endParaRPr lang="en-US" altLang="ko-KR" sz="3200" b="1" dirty="0">
              <a:latin typeface="+mj-ea"/>
              <a:ea typeface="+mj-ea"/>
            </a:endParaRPr>
          </a:p>
          <a:p>
            <a:endParaRPr lang="en-US" altLang="ko-KR" sz="2800" b="1" dirty="0">
              <a:latin typeface="+mj-ea"/>
              <a:ea typeface="+mj-ea"/>
            </a:endParaRPr>
          </a:p>
          <a:p>
            <a:r>
              <a:rPr lang="en-US" altLang="ko-KR" sz="3200" b="1" dirty="0">
                <a:latin typeface="+mj-ea"/>
              </a:rPr>
              <a:t>2. 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</a:rPr>
              <a:t>Visual Studio Code </a:t>
            </a:r>
            <a:r>
              <a:rPr lang="en-US" altLang="ko-KR" sz="3200" b="1" dirty="0">
                <a:latin typeface="+mj-ea"/>
              </a:rPr>
              <a:t>(</a:t>
            </a:r>
            <a:r>
              <a:rPr lang="ko-KR" altLang="en-US" sz="3200" b="1" dirty="0">
                <a:latin typeface="+mj-ea"/>
              </a:rPr>
              <a:t>에디터프로그램</a:t>
            </a:r>
            <a:r>
              <a:rPr lang="en-US" altLang="ko-KR" sz="3200" b="1" dirty="0">
                <a:latin typeface="+mj-ea"/>
              </a:rPr>
              <a:t>)</a:t>
            </a:r>
            <a:r>
              <a:rPr lang="ko-KR" altLang="en-US" sz="3200" b="1" dirty="0">
                <a:latin typeface="+mj-ea"/>
              </a:rPr>
              <a:t> 설치</a:t>
            </a:r>
            <a:endParaRPr lang="en-US" altLang="ko-KR" sz="3200" b="1" dirty="0">
              <a:latin typeface="+mj-ea"/>
            </a:endParaRPr>
          </a:p>
          <a:p>
            <a:r>
              <a:rPr lang="en-US" altLang="ko-KR" sz="3200" b="1" dirty="0">
                <a:latin typeface="+mj-ea"/>
              </a:rPr>
              <a:t>   </a:t>
            </a:r>
            <a:r>
              <a:rPr lang="en-US" altLang="ko-KR" sz="3200" b="1" dirty="0">
                <a:latin typeface="+mj-e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https://code.visualstudio.com/download</a:t>
            </a:r>
            <a:endParaRPr lang="en-US" altLang="ko-KR" sz="3200" b="1" dirty="0">
              <a:latin typeface="+mj-ea"/>
            </a:endParaRPr>
          </a:p>
          <a:p>
            <a:endParaRPr lang="en-US" altLang="ko-KR" sz="2800" b="1" dirty="0">
              <a:latin typeface="+mj-ea"/>
            </a:endParaRPr>
          </a:p>
          <a:p>
            <a:r>
              <a:rPr lang="en-US" altLang="ko-KR" sz="3200" b="1" dirty="0">
                <a:latin typeface="+mj-ea"/>
              </a:rPr>
              <a:t>3. 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</a:rPr>
              <a:t>yarn</a:t>
            </a:r>
            <a:r>
              <a:rPr lang="en-US" altLang="ko-KR" sz="3200" b="1" dirty="0">
                <a:latin typeface="+mj-ea"/>
              </a:rPr>
              <a:t> (</a:t>
            </a:r>
            <a:r>
              <a:rPr lang="en-US" altLang="ko-KR" sz="3200" b="1" dirty="0" err="1">
                <a:latin typeface="+mj-ea"/>
              </a:rPr>
              <a:t>npm</a:t>
            </a:r>
            <a:r>
              <a:rPr lang="ko-KR" altLang="en-US" sz="3200" b="1" dirty="0">
                <a:latin typeface="+mj-ea"/>
              </a:rPr>
              <a:t>과 같은 기능의 패키지 관리도구</a:t>
            </a:r>
            <a:r>
              <a:rPr lang="en-US" altLang="ko-KR" sz="3200" b="1" dirty="0">
                <a:latin typeface="+mj-ea"/>
              </a:rPr>
              <a:t>)</a:t>
            </a:r>
            <a:r>
              <a:rPr lang="ko-KR" altLang="en-US" sz="3200" b="1" dirty="0">
                <a:latin typeface="+mj-ea"/>
              </a:rPr>
              <a:t>설치</a:t>
            </a:r>
            <a:endParaRPr lang="en-US" altLang="ko-KR" sz="3200" b="1" dirty="0">
              <a:latin typeface="+mj-ea"/>
            </a:endParaRPr>
          </a:p>
          <a:p>
            <a:r>
              <a:rPr lang="en-US" altLang="ko-KR" sz="3200" b="1" dirty="0">
                <a:latin typeface="+mj-ea"/>
              </a:rPr>
              <a:t>   </a:t>
            </a:r>
            <a:r>
              <a:rPr lang="en-US" altLang="ko-KR" sz="3200" b="1" dirty="0" err="1">
                <a:latin typeface="+mj-ea"/>
              </a:rPr>
              <a:t>npm</a:t>
            </a:r>
            <a:r>
              <a:rPr lang="en-US" altLang="ko-KR" sz="3200" b="1" dirty="0">
                <a:latin typeface="+mj-ea"/>
              </a:rPr>
              <a:t> install -g yarn  </a:t>
            </a:r>
          </a:p>
          <a:p>
            <a:endParaRPr lang="en-US" altLang="ko-KR" sz="2800" b="1" dirty="0">
              <a:latin typeface="+mj-ea"/>
              <a:ea typeface="+mj-ea"/>
            </a:endParaRP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2F72DF4D-FEEA-4251-8D21-000E6A99CD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056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164CF-7679-72F5-56CE-FECBDBC01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51CC1695-DF53-AFB6-5526-86FFAA52DE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6E62B8-9AC1-7446-B61A-64D31D1C0AEF}"/>
              </a:ext>
            </a:extLst>
          </p:cNvPr>
          <p:cNvSpPr txBox="1"/>
          <p:nvPr/>
        </p:nvSpPr>
        <p:spPr>
          <a:xfrm>
            <a:off x="1803998" y="488394"/>
            <a:ext cx="7681292" cy="7694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4400" b="1" dirty="0">
                <a:latin typeface="+mj-ea"/>
                <a:ea typeface="+mj-ea"/>
              </a:rPr>
              <a:t>프로젝트 생성 및 실행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83A9CD-9C92-61EF-6B51-378A22FA7EFA}"/>
              </a:ext>
            </a:extLst>
          </p:cNvPr>
          <p:cNvSpPr txBox="1"/>
          <p:nvPr/>
        </p:nvSpPr>
        <p:spPr>
          <a:xfrm>
            <a:off x="1065306" y="2063084"/>
            <a:ext cx="9981067" cy="3321079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r>
              <a:rPr lang="en-US" altLang="ko-KR" sz="3200" b="1" dirty="0">
                <a:latin typeface="+mj-ea"/>
              </a:rPr>
              <a:t>1. </a:t>
            </a:r>
            <a:r>
              <a:rPr lang="ko-KR" altLang="en-US" sz="3200" b="1" dirty="0">
                <a:latin typeface="+mj-ea"/>
              </a:rPr>
              <a:t>프로젝트 생성</a:t>
            </a:r>
            <a:endParaRPr lang="en-US" altLang="ko-KR" sz="3200" b="1" dirty="0">
              <a:latin typeface="+mj-ea"/>
            </a:endParaRPr>
          </a:p>
          <a:p>
            <a:r>
              <a:rPr lang="en-US" altLang="ko-KR" sz="3600" b="1" dirty="0">
                <a:latin typeface="+mj-ea"/>
              </a:rPr>
              <a:t>c:&gt; </a:t>
            </a:r>
            <a:r>
              <a:rPr lang="en-US" altLang="ko-KR" sz="3600" b="1" dirty="0" err="1">
                <a:solidFill>
                  <a:srgbClr val="FFFF00"/>
                </a:solidFill>
                <a:latin typeface="+mj-ea"/>
              </a:rPr>
              <a:t>npm</a:t>
            </a:r>
            <a:r>
              <a:rPr lang="en-US" altLang="ko-KR" sz="3600" b="1" dirty="0">
                <a:latin typeface="+mj-ea"/>
              </a:rPr>
              <a:t> install –g </a:t>
            </a:r>
            <a:r>
              <a:rPr lang="en-US" altLang="ko-KR" sz="3600" b="1" dirty="0">
                <a:solidFill>
                  <a:srgbClr val="FFFF00"/>
                </a:solidFill>
                <a:latin typeface="+mj-ea"/>
              </a:rPr>
              <a:t>create-react-app</a:t>
            </a:r>
            <a:endParaRPr lang="en-US" altLang="ko-KR" sz="3600" b="1" dirty="0">
              <a:latin typeface="+mj-ea"/>
            </a:endParaRPr>
          </a:p>
          <a:p>
            <a:r>
              <a:rPr lang="en-US" altLang="ko-KR" sz="3600" b="1" dirty="0">
                <a:latin typeface="+mj-ea"/>
              </a:rPr>
              <a:t>c:&gt; </a:t>
            </a:r>
            <a:r>
              <a:rPr lang="en-US" altLang="ko-KR" sz="3600" b="1" dirty="0" err="1">
                <a:solidFill>
                  <a:srgbClr val="FFFF00"/>
                </a:solidFill>
                <a:latin typeface="+mj-ea"/>
              </a:rPr>
              <a:t>npx</a:t>
            </a:r>
            <a:r>
              <a:rPr lang="en-US" altLang="ko-KR" sz="3600" b="1" dirty="0">
                <a:latin typeface="+mj-ea"/>
              </a:rPr>
              <a:t> create-react-app </a:t>
            </a:r>
            <a:r>
              <a:rPr lang="en-US" altLang="ko-KR" sz="3600" b="1" dirty="0">
                <a:solidFill>
                  <a:srgbClr val="FFFF00"/>
                </a:solidFill>
                <a:latin typeface="+mj-ea"/>
              </a:rPr>
              <a:t>react-project</a:t>
            </a:r>
          </a:p>
          <a:p>
            <a:endParaRPr lang="en-US" altLang="ko-KR" sz="3200" b="1" dirty="0">
              <a:solidFill>
                <a:srgbClr val="FFFF00"/>
              </a:solidFill>
              <a:latin typeface="+mj-ea"/>
            </a:endParaRPr>
          </a:p>
          <a:p>
            <a:r>
              <a:rPr lang="en-US" altLang="ko-KR" sz="3200" b="1" dirty="0">
                <a:latin typeface="+mj-ea"/>
              </a:rPr>
              <a:t>2. </a:t>
            </a:r>
            <a:r>
              <a:rPr lang="ko-KR" altLang="en-US" sz="3200" b="1" dirty="0">
                <a:latin typeface="+mj-ea"/>
              </a:rPr>
              <a:t>프로젝트 실행</a:t>
            </a:r>
            <a:endParaRPr lang="en-US" altLang="ko-KR" sz="3200" b="1" dirty="0">
              <a:latin typeface="+mj-ea"/>
            </a:endParaRPr>
          </a:p>
          <a:p>
            <a:r>
              <a:rPr lang="en-US" altLang="ko-KR" sz="3600" b="1" dirty="0">
                <a:latin typeface="+mj-ea"/>
              </a:rPr>
              <a:t>c:\</a:t>
            </a:r>
            <a:r>
              <a:rPr lang="en-US" altLang="ko-KR" sz="3600" b="1" dirty="0">
                <a:solidFill>
                  <a:srgbClr val="FFFF00"/>
                </a:solidFill>
                <a:latin typeface="+mj-ea"/>
              </a:rPr>
              <a:t>react-project</a:t>
            </a:r>
            <a:r>
              <a:rPr lang="en-US" altLang="ko-KR" sz="3600" b="1" dirty="0">
                <a:latin typeface="+mj-ea"/>
              </a:rPr>
              <a:t>&gt; </a:t>
            </a:r>
            <a:r>
              <a:rPr lang="en-US" altLang="ko-KR" sz="3600" b="1" dirty="0">
                <a:solidFill>
                  <a:srgbClr val="FFFF00"/>
                </a:solidFill>
                <a:latin typeface="+mj-ea"/>
              </a:rPr>
              <a:t>yarn</a:t>
            </a:r>
            <a:r>
              <a:rPr lang="en-US" altLang="ko-KR" sz="3600" b="1" dirty="0">
                <a:latin typeface="+mj-ea"/>
              </a:rPr>
              <a:t> start</a:t>
            </a:r>
          </a:p>
        </p:txBody>
      </p:sp>
    </p:spTree>
    <p:extLst>
      <p:ext uri="{BB962C8B-B14F-4D97-AF65-F5344CB8AC3E}">
        <p14:creationId xmlns:p14="http://schemas.microsoft.com/office/powerpoint/2010/main" val="611071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8FDB0-FED5-9EEA-A2F4-5764BF822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3617D57B-028C-017D-94AA-C15A63B12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9A73A8-C983-C82D-4E1A-06297E6715B4}"/>
              </a:ext>
            </a:extLst>
          </p:cNvPr>
          <p:cNvSpPr txBox="1"/>
          <p:nvPr/>
        </p:nvSpPr>
        <p:spPr>
          <a:xfrm>
            <a:off x="1803998" y="488394"/>
            <a:ext cx="7681292" cy="7694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4400" b="1" dirty="0"/>
              <a:t>함수형 컴포넌트</a:t>
            </a:r>
            <a:endParaRPr lang="en-US" altLang="ko-KR" sz="4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CC316-6F16-2D9B-2295-B332657EE70F}"/>
              </a:ext>
            </a:extLst>
          </p:cNvPr>
          <p:cNvSpPr txBox="1"/>
          <p:nvPr/>
        </p:nvSpPr>
        <p:spPr>
          <a:xfrm>
            <a:off x="1569803" y="1492749"/>
            <a:ext cx="9171770" cy="47954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360000" tIns="180000" rIns="36000" bIns="180000" rtlCol="0">
            <a:spAutoFit/>
          </a:bodyPr>
          <a:lstStyle/>
          <a:p>
            <a:r>
              <a:rPr lang="en-US" altLang="ko-KR" sz="3600" b="1" dirty="0">
                <a:latin typeface="+mj-ea"/>
                <a:ea typeface="+mj-ea"/>
              </a:rPr>
              <a:t>const </a:t>
            </a:r>
            <a:r>
              <a:rPr lang="en-US" altLang="ko-KR" sz="3600" b="1" dirty="0">
                <a:solidFill>
                  <a:srgbClr val="FFFF00"/>
                </a:solidFill>
                <a:latin typeface="+mj-ea"/>
                <a:ea typeface="+mj-ea"/>
              </a:rPr>
              <a:t>App</a:t>
            </a:r>
            <a:r>
              <a:rPr lang="en-US" altLang="ko-KR" sz="3600" b="1" dirty="0">
                <a:latin typeface="+mj-ea"/>
                <a:ea typeface="+mj-ea"/>
              </a:rPr>
              <a:t> = () =&gt; {</a:t>
            </a:r>
          </a:p>
          <a:p>
            <a:r>
              <a:rPr lang="en-US" altLang="ko-KR" sz="3600" b="1" dirty="0">
                <a:latin typeface="+mj-ea"/>
                <a:ea typeface="+mj-ea"/>
              </a:rPr>
              <a:t>		return (</a:t>
            </a:r>
          </a:p>
          <a:p>
            <a:r>
              <a:rPr lang="en-US" altLang="ko-KR" sz="3600" b="1" dirty="0">
                <a:latin typeface="+mj-ea"/>
                <a:ea typeface="+mj-ea"/>
              </a:rPr>
              <a:t>				&lt;div&gt;</a:t>
            </a:r>
          </a:p>
          <a:p>
            <a:r>
              <a:rPr lang="en-US" altLang="ko-KR" sz="3600" b="1" dirty="0">
                <a:latin typeface="+mj-ea"/>
                <a:ea typeface="+mj-ea"/>
              </a:rPr>
              <a:t>						&lt;h1&gt;Hello</a:t>
            </a:r>
            <a:r>
              <a:rPr lang="ko-KR" altLang="en-US" sz="3600" b="1" dirty="0">
                <a:latin typeface="+mj-ea"/>
                <a:ea typeface="+mj-ea"/>
              </a:rPr>
              <a:t> </a:t>
            </a:r>
            <a:r>
              <a:rPr lang="en-US" altLang="ko-KR" sz="3600" b="1" dirty="0">
                <a:latin typeface="+mj-ea"/>
                <a:ea typeface="+mj-ea"/>
              </a:rPr>
              <a:t>REACT!&lt;/h1&gt;</a:t>
            </a:r>
          </a:p>
          <a:p>
            <a:r>
              <a:rPr lang="en-US" altLang="ko-KR" sz="3600" b="1" dirty="0">
                <a:latin typeface="+mj-ea"/>
                <a:ea typeface="+mj-ea"/>
              </a:rPr>
              <a:t>				&lt;/div&gt;</a:t>
            </a:r>
          </a:p>
          <a:p>
            <a:r>
              <a:rPr lang="en-US" altLang="ko-KR" sz="3600" b="1" dirty="0">
                <a:latin typeface="+mj-ea"/>
                <a:ea typeface="+mj-ea"/>
              </a:rPr>
              <a:t>    	)</a:t>
            </a:r>
          </a:p>
          <a:p>
            <a:r>
              <a:rPr lang="en-US" altLang="ko-KR" sz="3600" b="1" dirty="0">
                <a:latin typeface="+mj-ea"/>
                <a:ea typeface="+mj-ea"/>
              </a:rPr>
              <a:t>}</a:t>
            </a:r>
          </a:p>
          <a:p>
            <a:r>
              <a:rPr lang="en-US" altLang="ko-KR" sz="3600" b="1" dirty="0">
                <a:latin typeface="+mj-ea"/>
                <a:ea typeface="+mj-ea"/>
              </a:rPr>
              <a:t>export default </a:t>
            </a:r>
            <a:r>
              <a:rPr lang="en-US" altLang="ko-KR" sz="3600" b="1" dirty="0">
                <a:solidFill>
                  <a:srgbClr val="FFFF00"/>
                </a:solidFill>
                <a:latin typeface="+mj-ea"/>
                <a:ea typeface="+mj-ea"/>
              </a:rPr>
              <a:t>App</a:t>
            </a:r>
            <a:r>
              <a:rPr lang="en-US" altLang="ko-KR" sz="3600" b="1" dirty="0">
                <a:latin typeface="+mj-ea"/>
                <a:ea typeface="+mj-ea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598520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1FA14-CB58-D26D-BB81-F65A9303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C55BCAAF-3671-9C1D-29C1-23C76904E0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4AE2FB-CB64-D59A-C74C-171059CCC119}"/>
              </a:ext>
            </a:extLst>
          </p:cNvPr>
          <p:cNvSpPr txBox="1"/>
          <p:nvPr/>
        </p:nvSpPr>
        <p:spPr>
          <a:xfrm>
            <a:off x="1803998" y="488394"/>
            <a:ext cx="7681292" cy="7694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4400" b="1" dirty="0" err="1">
                <a:latin typeface="+mj-ea"/>
                <a:ea typeface="+mj-ea"/>
              </a:rPr>
              <a:t>리액트</a:t>
            </a:r>
            <a:r>
              <a:rPr lang="ko-KR" altLang="en-US" sz="4400" b="1" dirty="0">
                <a:latin typeface="+mj-ea"/>
                <a:ea typeface="+mj-ea"/>
              </a:rPr>
              <a:t> </a:t>
            </a:r>
            <a:r>
              <a:rPr lang="en-US" altLang="ko-KR" sz="4400" b="1" dirty="0">
                <a:latin typeface="+mj-ea"/>
                <a:ea typeface="+mj-ea"/>
              </a:rPr>
              <a:t>JSX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49E8D0-01DB-E901-4306-690E358CC2BE}"/>
              </a:ext>
            </a:extLst>
          </p:cNvPr>
          <p:cNvSpPr txBox="1"/>
          <p:nvPr/>
        </p:nvSpPr>
        <p:spPr>
          <a:xfrm>
            <a:off x="1170409" y="1818570"/>
            <a:ext cx="9981067" cy="3628855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ko-KR" sz="3200" b="1" dirty="0">
                <a:solidFill>
                  <a:schemeClr val="tx2"/>
                </a:solidFill>
                <a:latin typeface="+mj-ea"/>
              </a:rPr>
              <a:t>JavaScript XML</a:t>
            </a:r>
            <a:r>
              <a:rPr lang="ko-KR" altLang="en-US" sz="3200" b="1" dirty="0">
                <a:solidFill>
                  <a:schemeClr val="tx2"/>
                </a:solidFill>
                <a:latin typeface="+mj-ea"/>
              </a:rPr>
              <a:t>의 약자로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자바스크립트 확장문법</a:t>
            </a:r>
            <a:endParaRPr lang="en-US" altLang="ko-KR" sz="3200" b="1" dirty="0">
              <a:solidFill>
                <a:srgbClr val="FFFF00"/>
              </a:solidFill>
              <a:latin typeface="+mj-ea"/>
            </a:endParaRPr>
          </a:p>
          <a:p>
            <a:pPr marL="514350" indent="-514350">
              <a:buAutoNum type="arabicPeriod"/>
            </a:pPr>
            <a:endParaRPr lang="en-US" altLang="ko-KR" sz="3200" b="1" dirty="0">
              <a:solidFill>
                <a:srgbClr val="FFFF00"/>
              </a:solidFill>
              <a:latin typeface="+mj-ea"/>
            </a:endParaRPr>
          </a:p>
          <a:p>
            <a:r>
              <a:rPr lang="en-US" altLang="ko-KR" sz="3200" b="1" dirty="0">
                <a:solidFill>
                  <a:schemeClr val="tx2"/>
                </a:solidFill>
                <a:latin typeface="+mj-ea"/>
              </a:rPr>
              <a:t>2. JavaScript </a:t>
            </a:r>
            <a:r>
              <a:rPr lang="ko-KR" altLang="en-US" sz="3200" b="1" dirty="0">
                <a:solidFill>
                  <a:schemeClr val="tx2"/>
                </a:solidFill>
                <a:latin typeface="+mj-ea"/>
              </a:rPr>
              <a:t>코드 내에서 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</a:rPr>
              <a:t>HTML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과 유사한 구문 </a:t>
            </a:r>
            <a:r>
              <a:rPr lang="ko-KR" altLang="en-US" sz="3200" b="1" dirty="0">
                <a:solidFill>
                  <a:schemeClr val="tx2"/>
                </a:solidFill>
                <a:latin typeface="+mj-ea"/>
              </a:rPr>
              <a:t>사용</a:t>
            </a:r>
            <a:endParaRPr lang="en-US" altLang="ko-KR" sz="3200" b="1" dirty="0">
              <a:solidFill>
                <a:schemeClr val="tx2"/>
              </a:solidFill>
              <a:latin typeface="+mj-ea"/>
            </a:endParaRPr>
          </a:p>
          <a:p>
            <a:endParaRPr lang="en-US" altLang="ko-KR" sz="3200" b="1" dirty="0">
              <a:solidFill>
                <a:schemeClr val="tx2"/>
              </a:solidFill>
              <a:latin typeface="+mj-ea"/>
            </a:endParaRPr>
          </a:p>
          <a:p>
            <a:r>
              <a:rPr lang="en-US" altLang="ko-KR" sz="3200" b="1" dirty="0">
                <a:latin typeface="+mj-ea"/>
              </a:rPr>
              <a:t>3.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하나의 부모요소</a:t>
            </a:r>
            <a:r>
              <a:rPr lang="ko-KR" altLang="en-US" sz="3200" b="1" dirty="0">
                <a:solidFill>
                  <a:schemeClr val="tx2"/>
                </a:solidFill>
                <a:latin typeface="+mj-ea"/>
              </a:rPr>
              <a:t>로 감싸서 리턴</a:t>
            </a:r>
            <a:endParaRPr lang="en-US" altLang="ko-KR" sz="3200" b="1" dirty="0">
              <a:solidFill>
                <a:schemeClr val="tx2"/>
              </a:solidFill>
              <a:latin typeface="+mj-ea"/>
            </a:endParaRPr>
          </a:p>
          <a:p>
            <a:endParaRPr lang="en-US" altLang="ko-KR" sz="3200" b="1" dirty="0">
              <a:solidFill>
                <a:schemeClr val="tx2"/>
              </a:solidFill>
              <a:latin typeface="+mj-ea"/>
            </a:endParaRPr>
          </a:p>
          <a:p>
            <a:r>
              <a:rPr lang="en-US" altLang="ko-KR" sz="3200" b="1" dirty="0">
                <a:solidFill>
                  <a:schemeClr val="tx2"/>
                </a:solidFill>
                <a:latin typeface="+mj-ea"/>
              </a:rPr>
              <a:t>4.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바벨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</a:rPr>
              <a:t>(Bable)</a:t>
            </a:r>
            <a:r>
              <a:rPr lang="ko-KR" altLang="en-US" sz="3200" b="1" dirty="0">
                <a:solidFill>
                  <a:schemeClr val="tx2"/>
                </a:solidFill>
                <a:latin typeface="+mj-ea"/>
              </a:rPr>
              <a:t>을 통해 자바스크립트 코드로 변환</a:t>
            </a:r>
            <a:endParaRPr lang="en-US" altLang="ko-KR" sz="3200" b="1" dirty="0">
              <a:solidFill>
                <a:srgbClr val="FFFF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0298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841D0-4063-01B6-8BFE-C2A9C1FC4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9D3A079A-CFCD-A22B-EECA-273B2BC340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F1BC8E-327E-7AEF-29E3-B378EEB44F1E}"/>
              </a:ext>
            </a:extLst>
          </p:cNvPr>
          <p:cNvSpPr txBox="1"/>
          <p:nvPr/>
        </p:nvSpPr>
        <p:spPr>
          <a:xfrm>
            <a:off x="1803998" y="488394"/>
            <a:ext cx="7681292" cy="7694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4400" b="1" dirty="0">
                <a:latin typeface="+mj-ea"/>
                <a:ea typeface="+mj-ea"/>
              </a:rPr>
              <a:t>소스코드 깃 주소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EF37C0-2F70-AC20-A76B-B17336A0C9B5}"/>
              </a:ext>
            </a:extLst>
          </p:cNvPr>
          <p:cNvSpPr txBox="1"/>
          <p:nvPr/>
        </p:nvSpPr>
        <p:spPr>
          <a:xfrm>
            <a:off x="138023" y="2534563"/>
            <a:ext cx="11947585" cy="797311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tx2"/>
                </a:solidFill>
                <a:latin typeface="+mj-ea"/>
              </a:rPr>
              <a:t>https://github.com/helen-cho/react-project</a:t>
            </a:r>
            <a:endParaRPr lang="en-US" altLang="ko-KR" sz="4000" b="1" dirty="0">
              <a:solidFill>
                <a:srgbClr val="FFFF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54941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1484</TotalTime>
  <Words>256</Words>
  <Application>Microsoft Office PowerPoint</Application>
  <PresentationFormat>와이드스크린</PresentationFormat>
  <Paragraphs>58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조향덕</dc:creator>
  <cp:lastModifiedBy>조향덕</cp:lastModifiedBy>
  <cp:revision>28</cp:revision>
  <dcterms:created xsi:type="dcterms:W3CDTF">2025-10-29T02:21:35Z</dcterms:created>
  <dcterms:modified xsi:type="dcterms:W3CDTF">2026-02-04T07:04:43Z</dcterms:modified>
</cp:coreProperties>
</file>