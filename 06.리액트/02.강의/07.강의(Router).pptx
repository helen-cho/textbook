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67" r:id="rId2"/>
    <p:sldId id="273" r:id="rId3"/>
    <p:sldId id="278" r:id="rId4"/>
    <p:sldId id="279" r:id="rId5"/>
    <p:sldId id="28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6" autoAdjust="0"/>
    <p:restoredTop sz="94601" autoAdjust="0"/>
  </p:normalViewPr>
  <p:slideViewPr>
    <p:cSldViewPr snapToGrid="0">
      <p:cViewPr varScale="1">
        <p:scale>
          <a:sx n="69" d="100"/>
          <a:sy n="69" d="100"/>
        </p:scale>
        <p:origin x="796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D20DE-EA52-436A-AD24-6E2A76FCFA4E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1F003-16CA-49B6-9EC2-9AC8D21DD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88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450DC-D066-5117-6016-515F7EFA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CEE336-02C4-8FD1-170B-F944B7094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42F0E-9F6F-65F2-0185-897967658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AD69D-7324-8044-AD4C-E2D1C24B1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243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6085-9439-BB2F-65C9-E9005C79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84FE8D-FD8F-53BD-AFBC-9D1C54559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50774D-8049-E79B-3228-2A616E393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B1E5FD-F32E-6A49-2C3F-658BF764E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65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4FA1-AA46-D558-35FB-A54C4BCF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5D98C7-46DB-FDDD-9395-F1B5AC797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B5D04E-CEDE-6DA6-1A9A-68613DDE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B9D0AB-CE65-56F3-9EE9-FB3B1DA92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248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D30E-49F2-BA39-DFD2-CBABB6F8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2758E1-3AB1-686D-45E6-3B0EE045F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81B376-265A-AF1F-7D76-77A9D09B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A9C489-4ED9-48D1-2357-493F6B1D1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483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C7558-E09C-589E-DB4B-2926D2EC3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599811-C9D4-145D-FA11-5501DDC38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6898A4-304E-ECCB-37E1-5E9E314EC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B4E4D-421E-6DB5-9925-ECE44AACF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996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6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9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7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3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70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7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45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2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64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9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6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B46-75CF-42C4-83E0-7D25199BF86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1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B0F4-12CE-5C07-A374-F247CF09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3C0FA546-5FB6-FDAA-FA9C-79CC56789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13C963-447D-E461-AB34-9DCE08CA42D8}"/>
              </a:ext>
            </a:extLst>
          </p:cNvPr>
          <p:cNvSpPr txBox="1"/>
          <p:nvPr/>
        </p:nvSpPr>
        <p:spPr>
          <a:xfrm>
            <a:off x="1745009" y="431564"/>
            <a:ext cx="6449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 err="1">
                <a:latin typeface="+mj-ea"/>
                <a:ea typeface="+mj-ea"/>
              </a:rPr>
              <a:t>리액트</a:t>
            </a:r>
            <a:r>
              <a:rPr lang="ko-KR" altLang="en-US" sz="4400" b="1" dirty="0">
                <a:latin typeface="+mj-ea"/>
                <a:ea typeface="+mj-ea"/>
              </a:rPr>
              <a:t> </a:t>
            </a:r>
            <a:r>
              <a:rPr lang="ko-KR" altLang="en-US" sz="4400" b="1" dirty="0" err="1">
                <a:latin typeface="+mj-ea"/>
                <a:ea typeface="+mj-ea"/>
              </a:rPr>
              <a:t>라우터란</a:t>
            </a:r>
            <a:r>
              <a:rPr lang="en-US" altLang="ko-KR" sz="4400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948C2-3AB2-BE12-0A75-9F3B951EE4F1}"/>
              </a:ext>
            </a:extLst>
          </p:cNvPr>
          <p:cNvSpPr txBox="1"/>
          <p:nvPr/>
        </p:nvSpPr>
        <p:spPr>
          <a:xfrm>
            <a:off x="866633" y="1984046"/>
            <a:ext cx="10632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1. React </a:t>
            </a:r>
            <a:r>
              <a:rPr lang="ko-KR" altLang="en-US" sz="2800" b="1" dirty="0">
                <a:latin typeface="+mj-ea"/>
                <a:ea typeface="+mj-ea"/>
              </a:rPr>
              <a:t>애플리케이션에서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URL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경로에 따라 다른 컴포넌트</a:t>
            </a:r>
            <a:r>
              <a:rPr lang="ko-KR" altLang="en-US" sz="2800" b="1" dirty="0">
                <a:latin typeface="+mj-ea"/>
                <a:ea typeface="+mj-ea"/>
              </a:rPr>
              <a:t>를 보여주는 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ko-KR" altLang="en-US" sz="2800" b="1" dirty="0">
                <a:latin typeface="+mj-ea"/>
                <a:ea typeface="+mj-ea"/>
              </a:rPr>
              <a:t>라우팅</a:t>
            </a:r>
            <a:r>
              <a:rPr lang="en-US" altLang="ko-KR" sz="2800" b="1" dirty="0">
                <a:latin typeface="+mj-ea"/>
                <a:ea typeface="+mj-ea"/>
              </a:rPr>
              <a:t>) </a:t>
            </a:r>
            <a:r>
              <a:rPr lang="ko-KR" altLang="en-US" sz="2800" b="1" dirty="0">
                <a:latin typeface="+mj-ea"/>
                <a:ea typeface="+mj-ea"/>
              </a:rPr>
              <a:t>핵심 라이브러리</a:t>
            </a:r>
            <a:endParaRPr lang="en-US" altLang="ko-KR" sz="2800" b="1" dirty="0">
              <a:latin typeface="+mj-ea"/>
              <a:ea typeface="+mj-ea"/>
            </a:endParaRPr>
          </a:p>
          <a:p>
            <a:pPr marL="514350" indent="-514350">
              <a:buAutoNum type="arabicPeriod"/>
            </a:pPr>
            <a:endParaRPr lang="en-US" altLang="ko-KR" sz="2800" b="1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</a:rPr>
              <a:t>2. SPA(Single</a:t>
            </a:r>
            <a:r>
              <a:rPr lang="ko-KR" altLang="en-US" sz="2800" b="1" dirty="0">
                <a:latin typeface="+mj-ea"/>
              </a:rPr>
              <a:t> </a:t>
            </a:r>
            <a:r>
              <a:rPr lang="en-US" altLang="ko-KR" sz="2800" b="1" dirty="0">
                <a:latin typeface="+mj-ea"/>
              </a:rPr>
              <a:t>Page</a:t>
            </a:r>
            <a:r>
              <a:rPr lang="ko-KR" altLang="en-US" sz="2800" b="1" dirty="0">
                <a:latin typeface="+mj-ea"/>
              </a:rPr>
              <a:t> </a:t>
            </a:r>
            <a:r>
              <a:rPr lang="en-US" altLang="ko-KR" sz="2800" b="1" dirty="0">
                <a:latin typeface="+mj-ea"/>
              </a:rPr>
              <a:t>Application)</a:t>
            </a:r>
            <a:r>
              <a:rPr lang="ko-KR" altLang="en-US" sz="2800" b="1" dirty="0">
                <a:latin typeface="+mj-ea"/>
              </a:rPr>
              <a:t> 환경에서 페이지 전체를 새로 고침 하지 않고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특정 부분만 갱신하여 빠른 화면 전환</a:t>
            </a:r>
            <a:endParaRPr lang="en-US" altLang="ko-KR" sz="2800" b="1" dirty="0">
              <a:solidFill>
                <a:srgbClr val="FFFF00"/>
              </a:solidFill>
              <a:latin typeface="+mj-ea"/>
            </a:endParaRPr>
          </a:p>
          <a:p>
            <a:endParaRPr lang="en-US" altLang="ko-KR" sz="2800" b="1" dirty="0">
              <a:latin typeface="+mj-ea"/>
            </a:endParaRPr>
          </a:p>
          <a:p>
            <a:r>
              <a:rPr lang="en-US" altLang="ko-KR" sz="2800" b="1" dirty="0">
                <a:latin typeface="+mj-ea"/>
              </a:rPr>
              <a:t>3.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컴포넌트 기반</a:t>
            </a:r>
            <a:r>
              <a:rPr lang="ko-KR" altLang="en-US" sz="2800" b="1" dirty="0">
                <a:latin typeface="+mj-ea"/>
              </a:rPr>
              <a:t>으로 라우팅을 구성하여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코드 구조가 직관적</a:t>
            </a:r>
            <a:endParaRPr lang="en-US" altLang="ko-KR" sz="2800" b="1" dirty="0">
              <a:solidFill>
                <a:srgbClr val="FFFF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0972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9926-2E3E-8DC3-385A-277D19D9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405839A2-0BD6-DEC6-9DB9-8B02FEA32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425986-99EA-4BC0-7F13-64BF6324C412}"/>
              </a:ext>
            </a:extLst>
          </p:cNvPr>
          <p:cNvSpPr txBox="1"/>
          <p:nvPr/>
        </p:nvSpPr>
        <p:spPr>
          <a:xfrm>
            <a:off x="1653569" y="375293"/>
            <a:ext cx="63892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 err="1">
                <a:latin typeface="+mj-ea"/>
                <a:ea typeface="+mj-ea"/>
              </a:rPr>
              <a:t>리액트</a:t>
            </a:r>
            <a:r>
              <a:rPr lang="ko-KR" altLang="en-US" sz="4400" b="1" dirty="0">
                <a:latin typeface="+mj-ea"/>
                <a:ea typeface="+mj-ea"/>
              </a:rPr>
              <a:t> 라우터 설치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B29A8-FF4E-A4AC-F5A9-40B6AD866B3F}"/>
              </a:ext>
            </a:extLst>
          </p:cNvPr>
          <p:cNvSpPr txBox="1"/>
          <p:nvPr/>
        </p:nvSpPr>
        <p:spPr>
          <a:xfrm>
            <a:off x="1193704" y="2198928"/>
            <a:ext cx="9637428" cy="1748510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3000" b="1" dirty="0" err="1">
                <a:latin typeface="+mj-ea"/>
                <a:ea typeface="+mj-ea"/>
              </a:rPr>
              <a:t>npm</a:t>
            </a:r>
            <a:r>
              <a:rPr lang="en-US" altLang="ko-KR" sz="3000" b="1" dirty="0">
                <a:latin typeface="+mj-ea"/>
                <a:ea typeface="+mj-ea"/>
              </a:rPr>
              <a:t> install 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react-router-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dom</a:t>
            </a:r>
            <a:endParaRPr lang="en-US" altLang="ko-KR" sz="3000" b="1" dirty="0">
              <a:solidFill>
                <a:srgbClr val="FFFF00"/>
              </a:solidFill>
              <a:latin typeface="+mj-ea"/>
              <a:ea typeface="+mj-ea"/>
            </a:endParaRPr>
          </a:p>
          <a:p>
            <a:r>
              <a:rPr lang="ko-KR" altLang="en-US" sz="3000" b="1" dirty="0">
                <a:solidFill>
                  <a:schemeClr val="bg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또는</a:t>
            </a:r>
            <a:endParaRPr lang="en-US" altLang="ko-KR" sz="3000" b="1" dirty="0">
              <a:solidFill>
                <a:schemeClr val="bg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3000" b="1" dirty="0">
                <a:latin typeface="+mj-ea"/>
                <a:ea typeface="+mj-ea"/>
              </a:rPr>
              <a:t>yarn add 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react-router-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dom</a:t>
            </a:r>
            <a:endParaRPr lang="en-US" altLang="ko-KR" sz="30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0170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F55B6-9E78-7101-4A48-E3150A95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C00E9B16-E50E-1BF7-A1DC-54D386484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CD61A6-8C3C-280F-F9E1-9FA456D5333A}"/>
              </a:ext>
            </a:extLst>
          </p:cNvPr>
          <p:cNvSpPr txBox="1"/>
          <p:nvPr/>
        </p:nvSpPr>
        <p:spPr>
          <a:xfrm>
            <a:off x="1653569" y="375293"/>
            <a:ext cx="6968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 err="1">
                <a:latin typeface="+mj-ea"/>
                <a:ea typeface="+mj-ea"/>
              </a:rPr>
              <a:t>리액트</a:t>
            </a:r>
            <a:r>
              <a:rPr lang="ko-KR" altLang="en-US" sz="4400" b="1" dirty="0">
                <a:latin typeface="+mj-ea"/>
                <a:ea typeface="+mj-ea"/>
              </a:rPr>
              <a:t> 라우터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사용방법</a:t>
            </a:r>
            <a:r>
              <a:rPr lang="en-US" altLang="ko-KR" sz="44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FC1B0-3D43-B2FC-9D1B-0467FBFA414B}"/>
              </a:ext>
            </a:extLst>
          </p:cNvPr>
          <p:cNvSpPr txBox="1"/>
          <p:nvPr/>
        </p:nvSpPr>
        <p:spPr>
          <a:xfrm>
            <a:off x="1104297" y="2510435"/>
            <a:ext cx="9983406" cy="3595170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rIns="360000" bIns="180000" rtlCol="0">
            <a:spAutoFit/>
          </a:bodyPr>
          <a:lstStyle/>
          <a:p>
            <a:r>
              <a:rPr lang="en-US" altLang="ko-KR" sz="3000" b="1" dirty="0"/>
              <a:t>import { </a:t>
            </a:r>
            <a:r>
              <a:rPr lang="en-US" altLang="ko-KR" sz="3000" b="1" dirty="0" err="1">
                <a:solidFill>
                  <a:srgbClr val="FFFF00"/>
                </a:solidFill>
              </a:rPr>
              <a:t>BrowserRouter</a:t>
            </a:r>
            <a:r>
              <a:rPr lang="en-US" altLang="ko-KR" sz="3000" b="1" dirty="0"/>
              <a:t> } from 'react-router-</a:t>
            </a:r>
            <a:r>
              <a:rPr lang="en-US" altLang="ko-KR" sz="3000" b="1" dirty="0" err="1"/>
              <a:t>dom</a:t>
            </a:r>
            <a:r>
              <a:rPr lang="en-US" altLang="ko-KR" sz="3000" b="1" dirty="0"/>
              <a:t>’;</a:t>
            </a:r>
          </a:p>
          <a:p>
            <a:r>
              <a:rPr lang="en-US" altLang="ko-KR" sz="3000" b="1" dirty="0"/>
              <a:t>…</a:t>
            </a:r>
          </a:p>
          <a:p>
            <a:r>
              <a:rPr lang="en-US" altLang="ko-KR" sz="3000" b="1" dirty="0" err="1"/>
              <a:t>root.render</a:t>
            </a:r>
            <a:r>
              <a:rPr lang="en-US" altLang="ko-KR" sz="3000" b="1" dirty="0"/>
              <a:t>(</a:t>
            </a:r>
          </a:p>
          <a:p>
            <a:r>
              <a:rPr lang="en-US" altLang="ko-KR" sz="3000" b="1" dirty="0">
                <a:solidFill>
                  <a:srgbClr val="FFFF00"/>
                </a:solidFill>
              </a:rPr>
              <a:t>	&lt;</a:t>
            </a:r>
            <a:r>
              <a:rPr lang="en-US" altLang="ko-KR" sz="3000" b="1" dirty="0" err="1">
                <a:solidFill>
                  <a:srgbClr val="FFFF00"/>
                </a:solidFill>
              </a:rPr>
              <a:t>BrowserRouter</a:t>
            </a:r>
            <a:r>
              <a:rPr lang="en-US" altLang="ko-KR" sz="3000" b="1" dirty="0">
                <a:solidFill>
                  <a:srgbClr val="FFFF00"/>
                </a:solidFill>
              </a:rPr>
              <a:t>&gt;</a:t>
            </a:r>
          </a:p>
          <a:p>
            <a:r>
              <a:rPr lang="en-US" altLang="ko-KR" sz="3000" b="1" dirty="0"/>
              <a:t>     		&lt;App/&gt;</a:t>
            </a:r>
          </a:p>
          <a:p>
            <a:r>
              <a:rPr lang="en-US" altLang="ko-KR" sz="3000" b="1" dirty="0">
                <a:solidFill>
                  <a:srgbClr val="FFFF00"/>
                </a:solidFill>
              </a:rPr>
              <a:t>	&lt;/</a:t>
            </a:r>
            <a:r>
              <a:rPr lang="en-US" altLang="ko-KR" sz="3000" b="1" dirty="0" err="1">
                <a:solidFill>
                  <a:srgbClr val="FFFF00"/>
                </a:solidFill>
              </a:rPr>
              <a:t>BrowserRouter</a:t>
            </a:r>
            <a:r>
              <a:rPr lang="en-US" altLang="ko-KR" sz="3000" b="1" dirty="0">
                <a:solidFill>
                  <a:srgbClr val="FFFF00"/>
                </a:solidFill>
              </a:rPr>
              <a:t>&gt;</a:t>
            </a:r>
            <a:r>
              <a:rPr lang="en-US" altLang="ko-KR" sz="3000" b="1" dirty="0"/>
              <a:t>    </a:t>
            </a:r>
          </a:p>
          <a:p>
            <a:r>
              <a:rPr lang="en-US" altLang="ko-KR" sz="3000" b="1" dirty="0"/>
              <a:t>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351FE-CB2E-58C5-2A75-F89091721C58}"/>
              </a:ext>
            </a:extLst>
          </p:cNvPr>
          <p:cNvSpPr txBox="1"/>
          <p:nvPr/>
        </p:nvSpPr>
        <p:spPr>
          <a:xfrm>
            <a:off x="1193515" y="1733550"/>
            <a:ext cx="98964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index.js</a:t>
            </a:r>
            <a:r>
              <a:rPr lang="ko-KR" altLang="en-US" sz="3000" b="1" dirty="0">
                <a:latin typeface="+mj-ea"/>
                <a:ea typeface="+mj-ea"/>
              </a:rPr>
              <a:t>에서 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App</a:t>
            </a:r>
            <a:r>
              <a:rPr lang="en-US" altLang="ko-KR" sz="3000" b="1" dirty="0">
                <a:latin typeface="+mj-ea"/>
                <a:ea typeface="+mj-ea"/>
              </a:rPr>
              <a:t> </a:t>
            </a:r>
            <a:r>
              <a:rPr lang="ko-KR" altLang="en-US" sz="3000" b="1" dirty="0">
                <a:latin typeface="+mj-ea"/>
                <a:ea typeface="+mj-ea"/>
              </a:rPr>
              <a:t>컴포넌트를 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BrowserRouter</a:t>
            </a:r>
            <a:r>
              <a:rPr lang="ko-KR" altLang="en-US" sz="3000" b="1" dirty="0">
                <a:latin typeface="+mj-ea"/>
                <a:ea typeface="+mj-ea"/>
              </a:rPr>
              <a:t>로 감싼다</a:t>
            </a:r>
            <a:r>
              <a:rPr lang="en-US" altLang="ko-KR" sz="3000" b="1" dirty="0">
                <a:latin typeface="+mj-ea"/>
                <a:ea typeface="+mj-ea"/>
              </a:rPr>
              <a:t>.</a:t>
            </a:r>
            <a:r>
              <a:rPr lang="ko-KR" altLang="en-US" sz="3000" b="1" dirty="0"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4999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D759D-5990-B61D-F3CE-4BB1FCD0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9537E480-8490-E808-4A12-96101E0ED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E53CDC-B6A3-36CE-4CE9-859BFB46DE4A}"/>
              </a:ext>
            </a:extLst>
          </p:cNvPr>
          <p:cNvSpPr txBox="1"/>
          <p:nvPr/>
        </p:nvSpPr>
        <p:spPr>
          <a:xfrm>
            <a:off x="1653569" y="375293"/>
            <a:ext cx="6968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 err="1">
                <a:latin typeface="+mj-ea"/>
                <a:ea typeface="+mj-ea"/>
              </a:rPr>
              <a:t>리액트</a:t>
            </a:r>
            <a:r>
              <a:rPr lang="ko-KR" altLang="en-US" sz="4400" b="1" dirty="0">
                <a:latin typeface="+mj-ea"/>
                <a:ea typeface="+mj-ea"/>
              </a:rPr>
              <a:t> 라우터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사용방법</a:t>
            </a:r>
            <a:r>
              <a:rPr lang="en-US" altLang="ko-KR" sz="4400" b="1" dirty="0">
                <a:latin typeface="+mj-ea"/>
                <a:ea typeface="+mj-ea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6A846-FBD9-862F-B5BF-AB6978521B17}"/>
              </a:ext>
            </a:extLst>
          </p:cNvPr>
          <p:cNvSpPr txBox="1"/>
          <p:nvPr/>
        </p:nvSpPr>
        <p:spPr>
          <a:xfrm>
            <a:off x="1504010" y="1801561"/>
            <a:ext cx="9581883" cy="3133505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3000" b="1" dirty="0"/>
              <a:t>import { </a:t>
            </a:r>
            <a:r>
              <a:rPr lang="en-US" altLang="ko-KR" sz="3000" b="1" dirty="0">
                <a:solidFill>
                  <a:srgbClr val="FFFF00"/>
                </a:solidFill>
              </a:rPr>
              <a:t>Routes, Route </a:t>
            </a:r>
            <a:r>
              <a:rPr lang="en-US" altLang="ko-KR" sz="3000" b="1" dirty="0"/>
              <a:t>} from </a:t>
            </a:r>
            <a:r>
              <a:rPr lang="en-US" altLang="ko-KR" sz="2800" b="1" dirty="0"/>
              <a:t>'react-router-</a:t>
            </a:r>
            <a:r>
              <a:rPr lang="en-US" altLang="ko-KR" sz="2800" b="1" dirty="0" err="1"/>
              <a:t>dom</a:t>
            </a:r>
            <a:r>
              <a:rPr lang="en-US" altLang="ko-KR" sz="2800" b="1" dirty="0"/>
              <a:t>’;</a:t>
            </a:r>
            <a:endParaRPr lang="en-US" altLang="ko-KR" sz="3000" b="1" dirty="0"/>
          </a:p>
          <a:p>
            <a:r>
              <a:rPr lang="en-US" altLang="ko-KR" sz="3000" b="1" dirty="0"/>
              <a:t>Import </a:t>
            </a:r>
            <a:r>
              <a:rPr lang="en-US" altLang="ko-KR" sz="3000" b="1" dirty="0">
                <a:solidFill>
                  <a:srgbClr val="FFFF00"/>
                </a:solidFill>
              </a:rPr>
              <a:t>Home</a:t>
            </a:r>
            <a:r>
              <a:rPr lang="en-US" altLang="ko-KR" sz="3000" b="1" dirty="0"/>
              <a:t> from </a:t>
            </a:r>
            <a:r>
              <a:rPr lang="en-US" altLang="ko-KR" sz="2800" b="1" dirty="0"/>
              <a:t>'</a:t>
            </a:r>
            <a:r>
              <a:rPr lang="en-US" altLang="ko-KR" sz="3000" b="1" dirty="0"/>
              <a:t>./Home</a:t>
            </a:r>
            <a:r>
              <a:rPr lang="en-US" altLang="ko-KR" sz="2800" b="1" dirty="0"/>
              <a:t>'</a:t>
            </a:r>
            <a:r>
              <a:rPr lang="en-US" altLang="ko-KR" sz="3000" b="1" dirty="0"/>
              <a:t>;</a:t>
            </a:r>
          </a:p>
          <a:p>
            <a:r>
              <a:rPr lang="en-US" altLang="ko-KR" sz="3000" b="1" dirty="0"/>
              <a:t>return (</a:t>
            </a:r>
          </a:p>
          <a:p>
            <a:r>
              <a:rPr lang="en-US" altLang="ko-KR" sz="3000" b="1" dirty="0">
                <a:solidFill>
                  <a:srgbClr val="FFFF00"/>
                </a:solidFill>
              </a:rPr>
              <a:t>	&lt;Routes&gt;</a:t>
            </a:r>
          </a:p>
          <a:p>
            <a:r>
              <a:rPr lang="en-US" altLang="ko-KR" sz="3000" b="1" dirty="0"/>
              <a:t>		&lt;Route </a:t>
            </a:r>
            <a:r>
              <a:rPr lang="en-US" altLang="ko-KR" sz="3000" b="1" dirty="0">
                <a:solidFill>
                  <a:srgbClr val="FFFF00"/>
                </a:solidFill>
              </a:rPr>
              <a:t>path</a:t>
            </a:r>
            <a:r>
              <a:rPr lang="en-US" altLang="ko-KR" sz="3000" b="1" dirty="0"/>
              <a:t>='/' </a:t>
            </a:r>
            <a:r>
              <a:rPr lang="en-US" altLang="ko-KR" sz="3000" b="1" dirty="0">
                <a:solidFill>
                  <a:srgbClr val="FFFF00"/>
                </a:solidFill>
              </a:rPr>
              <a:t>element</a:t>
            </a:r>
            <a:r>
              <a:rPr lang="en-US" altLang="ko-KR" sz="3000" b="1" dirty="0"/>
              <a:t>={&lt;Home/&gt; }/&gt; </a:t>
            </a:r>
          </a:p>
          <a:p>
            <a:r>
              <a:rPr lang="en-US" altLang="ko-KR" sz="3000" b="1" dirty="0">
                <a:solidFill>
                  <a:srgbClr val="FFFF00"/>
                </a:solidFill>
              </a:rPr>
              <a:t>	&lt;/Routes&gt;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716443-EB06-65AF-A6D1-E00F4A91D8BC}"/>
              </a:ext>
            </a:extLst>
          </p:cNvPr>
          <p:cNvSpPr txBox="1"/>
          <p:nvPr/>
        </p:nvSpPr>
        <p:spPr>
          <a:xfrm>
            <a:off x="1560782" y="5215707"/>
            <a:ext cx="9587919" cy="855958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3000" b="1" dirty="0"/>
              <a:t>&lt;</a:t>
            </a:r>
            <a:r>
              <a:rPr lang="en-US" altLang="ko-KR" sz="3000" b="1" dirty="0">
                <a:solidFill>
                  <a:srgbClr val="FFFF00"/>
                </a:solidFill>
              </a:rPr>
              <a:t>Link</a:t>
            </a:r>
            <a:r>
              <a:rPr lang="en-US" altLang="ko-KR" sz="3000" b="1" dirty="0"/>
              <a:t> </a:t>
            </a:r>
            <a:r>
              <a:rPr lang="en-US" altLang="ko-KR" sz="3000" b="1" dirty="0">
                <a:solidFill>
                  <a:srgbClr val="FFFF00"/>
                </a:solidFill>
              </a:rPr>
              <a:t>to</a:t>
            </a:r>
            <a:r>
              <a:rPr lang="en-US" altLang="ko-KR" sz="3000" b="1" dirty="0"/>
              <a:t>=</a:t>
            </a:r>
            <a:r>
              <a:rPr lang="en-US" altLang="ko-KR" sz="2800" b="1" dirty="0"/>
              <a:t>'</a:t>
            </a:r>
            <a:r>
              <a:rPr lang="en-US" altLang="ko-KR" sz="3000" b="1" dirty="0"/>
              <a:t>/</a:t>
            </a:r>
            <a:r>
              <a:rPr lang="en-US" altLang="ko-KR" sz="2800" b="1" dirty="0"/>
              <a:t>'</a:t>
            </a:r>
            <a:r>
              <a:rPr lang="en-US" altLang="ko-KR" sz="3000" b="1" dirty="0"/>
              <a:t>&gt;</a:t>
            </a:r>
            <a:r>
              <a:rPr lang="ko-KR" altLang="en-US" sz="3000" b="1" dirty="0"/>
              <a:t>홈페이지</a:t>
            </a:r>
            <a:r>
              <a:rPr lang="en-US" altLang="ko-KR" sz="3000" b="1" dirty="0"/>
              <a:t>&lt;/</a:t>
            </a:r>
            <a:r>
              <a:rPr lang="en-US" altLang="ko-KR" sz="3000" b="1" dirty="0">
                <a:solidFill>
                  <a:srgbClr val="FFFF00"/>
                </a:solidFill>
              </a:rPr>
              <a:t>Link</a:t>
            </a:r>
            <a:r>
              <a:rPr lang="en-US" altLang="ko-KR" sz="3000" b="1" dirty="0"/>
              <a:t>&gt;</a:t>
            </a:r>
            <a:endParaRPr lang="en-US" altLang="ko-KR" sz="3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2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547E4-8290-C365-D737-163EBF3A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79F034B4-C0F0-5800-9CA3-0A8A62D60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97BB73-CA4D-8404-189E-EB09F9A42B28}"/>
              </a:ext>
            </a:extLst>
          </p:cNvPr>
          <p:cNvSpPr txBox="1"/>
          <p:nvPr/>
        </p:nvSpPr>
        <p:spPr>
          <a:xfrm>
            <a:off x="1653569" y="375293"/>
            <a:ext cx="85341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URL Path, </a:t>
            </a:r>
            <a:r>
              <a:rPr lang="en-US" altLang="ko-KR" sz="4400" b="1">
                <a:latin typeface="+mj-ea"/>
                <a:ea typeface="+mj-ea"/>
              </a:rPr>
              <a:t>Query </a:t>
            </a:r>
            <a:r>
              <a:rPr lang="ko-KR" altLang="en-US" sz="4400" b="1" dirty="0">
                <a:latin typeface="+mj-ea"/>
                <a:ea typeface="+mj-ea"/>
              </a:rPr>
              <a:t>파라미터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E73EE-370D-4D59-427E-F196C5A0ABDE}"/>
              </a:ext>
            </a:extLst>
          </p:cNvPr>
          <p:cNvSpPr txBox="1"/>
          <p:nvPr/>
        </p:nvSpPr>
        <p:spPr>
          <a:xfrm>
            <a:off x="1280106" y="3358027"/>
            <a:ext cx="9587919" cy="825180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3000" b="1" dirty="0"/>
              <a:t>/profile/</a:t>
            </a:r>
            <a:r>
              <a:rPr lang="en-US" altLang="ko-KR" sz="3000" b="1" dirty="0" err="1">
                <a:solidFill>
                  <a:srgbClr val="FFFF00"/>
                </a:solidFill>
              </a:rPr>
              <a:t>hong</a:t>
            </a:r>
            <a:endParaRPr lang="en-US" altLang="ko-KR" sz="3000" b="1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4F316-4D06-E8F3-DBC6-76D362634357}"/>
              </a:ext>
            </a:extLst>
          </p:cNvPr>
          <p:cNvSpPr txBox="1"/>
          <p:nvPr/>
        </p:nvSpPr>
        <p:spPr>
          <a:xfrm>
            <a:off x="1280106" y="1841367"/>
            <a:ext cx="96736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>
                <a:latin typeface="+mj-ea"/>
                <a:ea typeface="+mj-ea"/>
              </a:rPr>
              <a:t>특정 </a:t>
            </a:r>
            <a:r>
              <a:rPr lang="en-US" altLang="ko-KR" sz="3000" b="1" dirty="0">
                <a:latin typeface="+mj-ea"/>
                <a:ea typeface="+mj-ea"/>
              </a:rPr>
              <a:t>URL</a:t>
            </a:r>
            <a:r>
              <a:rPr lang="ko-KR" altLang="en-US" sz="3000" b="1" dirty="0">
                <a:latin typeface="+mj-ea"/>
                <a:ea typeface="+mj-ea"/>
              </a:rPr>
              <a:t>로 이동하면서 </a:t>
            </a:r>
            <a:r>
              <a:rPr lang="ko-KR" altLang="en-US" sz="3000" b="1" dirty="0">
                <a:solidFill>
                  <a:srgbClr val="FFFF00"/>
                </a:solidFill>
                <a:latin typeface="+mj-ea"/>
                <a:ea typeface="+mj-ea"/>
              </a:rPr>
              <a:t>유동적인 값을 전달</a:t>
            </a:r>
            <a:r>
              <a:rPr lang="ko-KR" altLang="en-US" sz="3000" b="1" dirty="0">
                <a:latin typeface="+mj-ea"/>
                <a:ea typeface="+mj-ea"/>
              </a:rPr>
              <a:t>할 때 사용</a:t>
            </a:r>
            <a:endParaRPr lang="en-US" altLang="ko-KR" sz="30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1FA15-52C7-6D70-410A-DBDA280D44C1}"/>
              </a:ext>
            </a:extLst>
          </p:cNvPr>
          <p:cNvSpPr txBox="1"/>
          <p:nvPr/>
        </p:nvSpPr>
        <p:spPr>
          <a:xfrm>
            <a:off x="1280106" y="2748827"/>
            <a:ext cx="95498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latin typeface="+mj-ea"/>
                <a:ea typeface="+mj-ea"/>
              </a:rPr>
              <a:t>1. URL </a:t>
            </a:r>
            <a:r>
              <a:rPr lang="ko-KR" altLang="en-US" sz="3000" b="1" dirty="0">
                <a:latin typeface="+mj-ea"/>
                <a:ea typeface="+mj-ea"/>
              </a:rPr>
              <a:t>패스 파라미터 </a:t>
            </a:r>
            <a:r>
              <a:rPr lang="en-US" altLang="ko-KR" sz="3000" b="1" dirty="0">
                <a:latin typeface="+mj-ea"/>
                <a:ea typeface="+mj-ea"/>
              </a:rPr>
              <a:t>(Path Parameter) </a:t>
            </a:r>
            <a:r>
              <a:rPr lang="ko-KR" altLang="en-US" sz="3000" b="1" dirty="0">
                <a:latin typeface="+mj-ea"/>
                <a:ea typeface="+mj-ea"/>
              </a:rPr>
              <a:t>예시</a:t>
            </a:r>
            <a:endParaRPr lang="en-US" altLang="ko-KR" sz="3000" b="1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4B1A3-153F-F51E-46B6-59C0AD6F6481}"/>
              </a:ext>
            </a:extLst>
          </p:cNvPr>
          <p:cNvSpPr txBox="1"/>
          <p:nvPr/>
        </p:nvSpPr>
        <p:spPr>
          <a:xfrm>
            <a:off x="1280106" y="5211211"/>
            <a:ext cx="9581883" cy="794403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2800" b="1" dirty="0"/>
              <a:t>/</a:t>
            </a:r>
            <a:r>
              <a:rPr lang="en-US" altLang="ko-KR" sz="2800" b="1" dirty="0" err="1"/>
              <a:t>info</a:t>
            </a:r>
            <a:r>
              <a:rPr lang="en-US" altLang="ko-KR" sz="2800" b="1" dirty="0" err="1">
                <a:solidFill>
                  <a:srgbClr val="FFFF00"/>
                </a:solidFill>
              </a:rPr>
              <a:t>?page</a:t>
            </a:r>
            <a:r>
              <a:rPr lang="en-US" altLang="ko-KR" sz="2800" b="1" dirty="0">
                <a:solidFill>
                  <a:srgbClr val="FFFF00"/>
                </a:solidFill>
              </a:rPr>
              <a:t>=1&amp;query=</a:t>
            </a:r>
            <a:r>
              <a:rPr lang="ko-KR" altLang="en-US" sz="2800" b="1" dirty="0">
                <a:solidFill>
                  <a:srgbClr val="FFFF00"/>
                </a:solidFill>
              </a:rPr>
              <a:t>노트북</a:t>
            </a:r>
            <a:endParaRPr lang="en-US" altLang="ko-KR" sz="2800" b="1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81F23-E44C-4931-5578-CAF35C401D67}"/>
              </a:ext>
            </a:extLst>
          </p:cNvPr>
          <p:cNvSpPr txBox="1"/>
          <p:nvPr/>
        </p:nvSpPr>
        <p:spPr>
          <a:xfrm>
            <a:off x="1280106" y="4634208"/>
            <a:ext cx="95593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latin typeface="+mj-ea"/>
                <a:ea typeface="+mj-ea"/>
              </a:rPr>
              <a:t>2. URL </a:t>
            </a:r>
            <a:r>
              <a:rPr lang="ko-KR" altLang="en-US" sz="3000" b="1" dirty="0">
                <a:latin typeface="+mj-ea"/>
                <a:ea typeface="+mj-ea"/>
              </a:rPr>
              <a:t>쿼리 파라미터</a:t>
            </a:r>
            <a:r>
              <a:rPr lang="en-US" altLang="ko-KR" sz="3000" b="1" dirty="0">
                <a:latin typeface="+mj-ea"/>
                <a:ea typeface="+mj-ea"/>
              </a:rPr>
              <a:t>(Query Parameter) </a:t>
            </a:r>
            <a:r>
              <a:rPr lang="ko-KR" altLang="en-US" sz="3000" b="1" dirty="0">
                <a:latin typeface="+mj-ea"/>
                <a:ea typeface="+mj-ea"/>
              </a:rPr>
              <a:t>예시</a:t>
            </a:r>
            <a:endParaRPr lang="en-US" altLang="ko-KR" sz="3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01601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1257</TotalTime>
  <Words>200</Words>
  <Application>Microsoft Office PowerPoint</Application>
  <PresentationFormat>와이드스크린</PresentationFormat>
  <Paragraphs>38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49</cp:revision>
  <dcterms:created xsi:type="dcterms:W3CDTF">2025-10-29T02:21:35Z</dcterms:created>
  <dcterms:modified xsi:type="dcterms:W3CDTF">2026-02-11T08:49:42Z</dcterms:modified>
</cp:coreProperties>
</file>