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6"/>
  </p:notesMasterIdLst>
  <p:sldIdLst>
    <p:sldId id="267" r:id="rId2"/>
    <p:sldId id="273" r:id="rId3"/>
    <p:sldId id="276" r:id="rId4"/>
    <p:sldId id="277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106" autoAdjust="0"/>
    <p:restoredTop sz="94552" autoAdjust="0"/>
  </p:normalViewPr>
  <p:slideViewPr>
    <p:cSldViewPr snapToGrid="0">
      <p:cViewPr varScale="1">
        <p:scale>
          <a:sx n="74" d="100"/>
          <a:sy n="74" d="100"/>
        </p:scale>
        <p:origin x="608" y="4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D20DE-EA52-436A-AD24-6E2A76FCFA4E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1F003-16CA-49B6-9EC2-9AC8D21DD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3884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450DC-D066-5117-6016-515F7EFA7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CEE336-02C4-8FD1-170B-F944B7094A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942F0E-9F6F-65F2-0185-897967658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6AD69D-7324-8044-AD4C-E2D1C24B17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243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76085-9439-BB2F-65C9-E9005C79D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084FE8D-FD8F-53BD-AFBC-9D1C54559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50774D-8049-E79B-3228-2A616E393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B1E5FD-F32E-6A49-2C3F-658BF764E0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65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E78CA-F283-84EA-5EBB-891334FAB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C3E3D0-9B22-ED2E-8B07-6B438AE9A1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AE963C-FF82-78AD-EF22-23748A3A3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5F21EE-7705-0742-208A-D02F5CC260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1318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77FDA-DF37-6F30-9AF5-4224ED1D3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1701F3-9EDD-671A-7E01-1FB31D78F2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522E1F-4ABE-6F7E-1A1E-3C79EF4AC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8DB1FD-98D2-6179-3457-0AA40E711F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2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569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89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705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134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370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372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459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1322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643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399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565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3B46-75CF-42C4-83E0-7D25199BF86C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615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DB0F4-12CE-5C07-A374-F247CF099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래픽 10">
            <a:extLst>
              <a:ext uri="{FF2B5EF4-FFF2-40B4-BE49-F238E27FC236}">
                <a16:creationId xmlns:a16="http://schemas.microsoft.com/office/drawing/2014/main" id="{3C0FA546-5FB6-FDAA-FA9C-79CC56789D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13C963-447D-E461-AB34-9DCE08CA42D8}"/>
              </a:ext>
            </a:extLst>
          </p:cNvPr>
          <p:cNvSpPr txBox="1"/>
          <p:nvPr/>
        </p:nvSpPr>
        <p:spPr>
          <a:xfrm>
            <a:off x="1745009" y="431564"/>
            <a:ext cx="36556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err="1">
                <a:latin typeface="+mj-ea"/>
                <a:ea typeface="+mj-ea"/>
              </a:rPr>
              <a:t>useReducer</a:t>
            </a:r>
            <a:endParaRPr lang="en-US" altLang="ko-KR" sz="4400" b="1" dirty="0">
              <a:latin typeface="+mj-ea"/>
              <a:ea typeface="+mj-ea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25948C2-3AB2-BE12-0A75-9F3B951EE4F1}"/>
              </a:ext>
            </a:extLst>
          </p:cNvPr>
          <p:cNvSpPr txBox="1"/>
          <p:nvPr/>
        </p:nvSpPr>
        <p:spPr>
          <a:xfrm>
            <a:off x="913590" y="2002715"/>
            <a:ext cx="1049053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latin typeface="+mj-ea"/>
                <a:ea typeface="+mj-ea"/>
              </a:rPr>
              <a:t>1. </a:t>
            </a:r>
            <a:r>
              <a:rPr lang="en-US" altLang="ko-KR" sz="3000" b="1" dirty="0" err="1">
                <a:latin typeface="+mj-ea"/>
                <a:ea typeface="+mj-ea"/>
              </a:rPr>
              <a:t>useState</a:t>
            </a:r>
            <a:r>
              <a:rPr lang="ko-KR" altLang="en-US" sz="3000" b="1" dirty="0">
                <a:latin typeface="+mj-ea"/>
                <a:ea typeface="+mj-ea"/>
              </a:rPr>
              <a:t>와 같이 컴포넌트에서 상태</a:t>
            </a:r>
            <a:r>
              <a:rPr lang="en-US" altLang="ko-KR" sz="3000" b="1" dirty="0">
                <a:latin typeface="+mj-ea"/>
                <a:ea typeface="+mj-ea"/>
              </a:rPr>
              <a:t>(state)</a:t>
            </a:r>
            <a:r>
              <a:rPr lang="ko-KR" altLang="en-US" sz="3000" b="1" dirty="0">
                <a:latin typeface="+mj-ea"/>
                <a:ea typeface="+mj-ea"/>
              </a:rPr>
              <a:t>를 관리하기 위한 함수로 </a:t>
            </a:r>
            <a:r>
              <a:rPr lang="en-US" altLang="ko-KR" sz="3000" b="1" dirty="0" err="1">
                <a:solidFill>
                  <a:srgbClr val="FFFF00"/>
                </a:solidFill>
                <a:latin typeface="+mj-ea"/>
                <a:ea typeface="+mj-ea"/>
              </a:rPr>
              <a:t>useState</a:t>
            </a:r>
            <a:r>
              <a:rPr lang="ko-KR" altLang="en-US" sz="3000" b="1" dirty="0">
                <a:solidFill>
                  <a:srgbClr val="FFFF00"/>
                </a:solidFill>
                <a:latin typeface="+mj-ea"/>
                <a:ea typeface="+mj-ea"/>
              </a:rPr>
              <a:t>보다 복잡한 상태관리</a:t>
            </a:r>
            <a:r>
              <a:rPr lang="ko-KR" altLang="en-US" sz="3000" b="1" dirty="0">
                <a:latin typeface="+mj-ea"/>
                <a:ea typeface="+mj-ea"/>
              </a:rPr>
              <a:t>에</a:t>
            </a:r>
            <a:r>
              <a:rPr lang="ko-KR" altLang="en-US" sz="3000" b="1" dirty="0">
                <a:solidFill>
                  <a:srgbClr val="FFFF00"/>
                </a:solidFill>
                <a:latin typeface="+mj-ea"/>
                <a:ea typeface="+mj-ea"/>
              </a:rPr>
              <a:t> </a:t>
            </a:r>
            <a:r>
              <a:rPr lang="ko-KR" altLang="en-US" sz="3000" b="1" dirty="0">
                <a:latin typeface="+mj-ea"/>
                <a:ea typeface="+mj-ea"/>
              </a:rPr>
              <a:t>사용</a:t>
            </a:r>
            <a:endParaRPr lang="en-US" altLang="ko-KR" sz="3000" b="1" dirty="0">
              <a:latin typeface="+mj-ea"/>
              <a:ea typeface="+mj-ea"/>
            </a:endParaRPr>
          </a:p>
          <a:p>
            <a:pPr marL="514350" indent="-514350">
              <a:buAutoNum type="arabicPeriod"/>
            </a:pPr>
            <a:endParaRPr lang="en-US" altLang="ko-KR" sz="3000" b="1" dirty="0">
              <a:latin typeface="+mj-ea"/>
              <a:ea typeface="+mj-ea"/>
            </a:endParaRPr>
          </a:p>
          <a:p>
            <a:r>
              <a:rPr lang="en-US" altLang="ko-KR" sz="3000" b="1" dirty="0">
                <a:latin typeface="+mj-ea"/>
                <a:ea typeface="+mj-ea"/>
              </a:rPr>
              <a:t>2. </a:t>
            </a:r>
            <a:r>
              <a:rPr lang="ko-KR" altLang="en-US" sz="3000" b="1" dirty="0">
                <a:latin typeface="+mj-ea"/>
                <a:ea typeface="+mj-ea"/>
              </a:rPr>
              <a:t>여러 상태가 서로 연관되어 </a:t>
            </a:r>
            <a:r>
              <a:rPr lang="ko-KR" altLang="en-US" sz="3000" b="1" dirty="0">
                <a:solidFill>
                  <a:srgbClr val="FFFF00"/>
                </a:solidFill>
                <a:latin typeface="+mj-ea"/>
                <a:ea typeface="+mj-ea"/>
              </a:rPr>
              <a:t>이전 상태를 기반으로 다음 상태를 결정</a:t>
            </a:r>
            <a:r>
              <a:rPr lang="ko-KR" altLang="en-US" sz="3000" b="1" dirty="0">
                <a:latin typeface="+mj-ea"/>
                <a:ea typeface="+mj-ea"/>
              </a:rPr>
              <a:t>해야 할 때 사용</a:t>
            </a:r>
            <a:endParaRPr lang="en-US" altLang="ko-KR" sz="3000" b="1" dirty="0">
              <a:latin typeface="+mj-ea"/>
              <a:ea typeface="+mj-ea"/>
            </a:endParaRPr>
          </a:p>
          <a:p>
            <a:endParaRPr lang="en-US" altLang="ko-KR" sz="3000" b="1" dirty="0">
              <a:latin typeface="+mj-ea"/>
              <a:ea typeface="+mj-ea"/>
            </a:endParaRPr>
          </a:p>
          <a:p>
            <a:r>
              <a:rPr lang="en-US" altLang="ko-KR" sz="3000" b="1" dirty="0">
                <a:latin typeface="+mj-ea"/>
                <a:ea typeface="+mj-ea"/>
              </a:rPr>
              <a:t>3. </a:t>
            </a:r>
            <a:r>
              <a:rPr lang="ko-KR" altLang="en-US" sz="3000" b="1" dirty="0">
                <a:latin typeface="+mj-ea"/>
                <a:ea typeface="+mj-ea"/>
              </a:rPr>
              <a:t>상태 관리 </a:t>
            </a:r>
            <a:r>
              <a:rPr lang="en-US" altLang="ko-KR" sz="3000" b="1" dirty="0">
                <a:solidFill>
                  <a:srgbClr val="FFFF00"/>
                </a:solidFill>
                <a:latin typeface="+mj-ea"/>
                <a:ea typeface="+mj-ea"/>
              </a:rPr>
              <a:t>Logic</a:t>
            </a:r>
            <a:r>
              <a:rPr lang="ko-KR" altLang="en-US" sz="3000" b="1" dirty="0">
                <a:solidFill>
                  <a:srgbClr val="FFFF00"/>
                </a:solidFill>
                <a:latin typeface="+mj-ea"/>
                <a:ea typeface="+mj-ea"/>
              </a:rPr>
              <a:t>을 한 곳에서 관리</a:t>
            </a:r>
            <a:r>
              <a:rPr lang="ko-KR" altLang="en-US" sz="3000" b="1" dirty="0">
                <a:latin typeface="+mj-ea"/>
                <a:ea typeface="+mj-ea"/>
              </a:rPr>
              <a:t>하고 싶을 때 사용</a:t>
            </a:r>
            <a:endParaRPr lang="en-US" altLang="ko-KR" sz="3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09726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89926-2E3E-8DC3-385A-277D19D93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래픽 10">
            <a:extLst>
              <a:ext uri="{FF2B5EF4-FFF2-40B4-BE49-F238E27FC236}">
                <a16:creationId xmlns:a16="http://schemas.microsoft.com/office/drawing/2014/main" id="{405839A2-0BD6-DEC6-9DB9-8B02FEA32A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F425986-99EA-4BC0-7F13-64BF6324C412}"/>
              </a:ext>
            </a:extLst>
          </p:cNvPr>
          <p:cNvSpPr txBox="1"/>
          <p:nvPr/>
        </p:nvSpPr>
        <p:spPr>
          <a:xfrm>
            <a:off x="1653569" y="375293"/>
            <a:ext cx="63892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err="1">
                <a:latin typeface="+mj-ea"/>
                <a:ea typeface="+mj-ea"/>
              </a:rPr>
              <a:t>useReducer</a:t>
            </a:r>
            <a:r>
              <a:rPr lang="en-US" altLang="ko-KR" sz="4400" b="1" dirty="0">
                <a:latin typeface="+mj-ea"/>
                <a:ea typeface="+mj-ea"/>
              </a:rPr>
              <a:t> </a:t>
            </a:r>
            <a:r>
              <a:rPr lang="ko-KR" altLang="en-US" sz="4400" b="1" dirty="0">
                <a:latin typeface="+mj-ea"/>
                <a:ea typeface="+mj-ea"/>
              </a:rPr>
              <a:t>구성요소</a:t>
            </a:r>
            <a:endParaRPr lang="en-US" altLang="ko-KR" sz="4400" b="1" dirty="0"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58A09E-DAD1-CA31-DD33-28B82EB840F7}"/>
              </a:ext>
            </a:extLst>
          </p:cNvPr>
          <p:cNvSpPr txBox="1"/>
          <p:nvPr/>
        </p:nvSpPr>
        <p:spPr>
          <a:xfrm>
            <a:off x="825323" y="1850438"/>
            <a:ext cx="2180034" cy="122529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tIns="180000" bIns="180000" rtlCol="0" anchor="ctr" anchorCtr="1">
            <a:spAutoFit/>
          </a:bodyPr>
          <a:lstStyle/>
          <a:p>
            <a:pPr algn="ctr"/>
            <a:r>
              <a:rPr lang="ko-KR" altLang="en-US" sz="2800" b="1" dirty="0">
                <a:latin typeface="+mj-ea"/>
                <a:ea typeface="+mj-ea"/>
              </a:rPr>
              <a:t>고객요청</a:t>
            </a:r>
            <a:endParaRPr lang="en-US" altLang="ko-KR" sz="2800" b="1" dirty="0">
              <a:latin typeface="+mj-ea"/>
              <a:ea typeface="+mj-ea"/>
            </a:endParaRPr>
          </a:p>
          <a:p>
            <a:pPr algn="ctr"/>
            <a:r>
              <a:rPr lang="en-US" altLang="ko-KR" sz="2800" b="1" dirty="0">
                <a:latin typeface="+mj-ea"/>
                <a:ea typeface="+mj-ea"/>
              </a:rPr>
              <a:t>(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Dispatch</a:t>
            </a:r>
            <a:r>
              <a:rPr lang="en-US" altLang="ko-KR" sz="2800" b="1" dirty="0">
                <a:latin typeface="+mj-ea"/>
                <a:ea typeface="+mj-ea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B55B98-DB94-C1B4-D384-6AD9955C7B7C}"/>
              </a:ext>
            </a:extLst>
          </p:cNvPr>
          <p:cNvSpPr txBox="1"/>
          <p:nvPr/>
        </p:nvSpPr>
        <p:spPr>
          <a:xfrm>
            <a:off x="3653939" y="1850438"/>
            <a:ext cx="2216261" cy="122529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tIns="180000" bIns="180000" rtlCol="0" anchor="ctr" anchorCtr="1">
            <a:spAutoFit/>
          </a:bodyPr>
          <a:lstStyle/>
          <a:p>
            <a:pPr algn="ctr"/>
            <a:r>
              <a:rPr lang="ko-KR" altLang="en-US" sz="2800" b="1" dirty="0">
                <a:latin typeface="+mj-ea"/>
                <a:ea typeface="+mj-ea"/>
              </a:rPr>
              <a:t>천원인출</a:t>
            </a:r>
            <a:endParaRPr lang="en-US" altLang="ko-KR" sz="2800" b="1" dirty="0">
              <a:latin typeface="+mj-ea"/>
              <a:ea typeface="+mj-ea"/>
            </a:endParaRPr>
          </a:p>
          <a:p>
            <a:pPr algn="ctr"/>
            <a:r>
              <a:rPr lang="en-US" altLang="ko-KR" sz="2800" b="1" dirty="0">
                <a:latin typeface="+mj-ea"/>
                <a:ea typeface="+mj-ea"/>
              </a:rPr>
              <a:t>(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Action</a:t>
            </a:r>
            <a:r>
              <a:rPr lang="en-US" altLang="ko-KR" sz="2800" b="1" dirty="0">
                <a:latin typeface="+mj-ea"/>
                <a:ea typeface="+mj-ea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052D21-111C-1B33-4E39-A6BCEFB78D5C}"/>
              </a:ext>
            </a:extLst>
          </p:cNvPr>
          <p:cNvSpPr txBox="1"/>
          <p:nvPr/>
        </p:nvSpPr>
        <p:spPr>
          <a:xfrm>
            <a:off x="6566407" y="1850438"/>
            <a:ext cx="2229405" cy="122529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tIns="180000" bIns="180000" rtlCol="0" anchor="ctr" anchorCtr="1">
            <a:spAutoFit/>
          </a:bodyPr>
          <a:lstStyle/>
          <a:p>
            <a:pPr algn="ctr"/>
            <a:r>
              <a:rPr lang="ko-KR" altLang="en-US" sz="2800" b="1" dirty="0">
                <a:latin typeface="+mj-ea"/>
                <a:ea typeface="+mj-ea"/>
              </a:rPr>
              <a:t>은행처리</a:t>
            </a:r>
            <a:endParaRPr lang="en-US" altLang="ko-KR" sz="2800" b="1" dirty="0">
              <a:latin typeface="+mj-ea"/>
              <a:ea typeface="+mj-ea"/>
            </a:endParaRPr>
          </a:p>
          <a:p>
            <a:pPr algn="ctr"/>
            <a:r>
              <a:rPr lang="en-US" altLang="ko-KR" sz="2800" b="1" dirty="0">
                <a:latin typeface="+mj-ea"/>
                <a:ea typeface="+mj-ea"/>
              </a:rPr>
              <a:t>(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Reducer</a:t>
            </a:r>
            <a:r>
              <a:rPr lang="en-US" altLang="ko-KR" sz="2800" b="1" dirty="0">
                <a:latin typeface="+mj-ea"/>
                <a:ea typeface="+mj-ea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0CBAFA-E70E-4C65-B381-E04F2DE34F0F}"/>
              </a:ext>
            </a:extLst>
          </p:cNvPr>
          <p:cNvSpPr txBox="1"/>
          <p:nvPr/>
        </p:nvSpPr>
        <p:spPr>
          <a:xfrm>
            <a:off x="9492020" y="1850438"/>
            <a:ext cx="1770488" cy="122529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tIns="180000" bIns="180000" rtlCol="0" anchor="ctr" anchorCtr="1">
            <a:spAutoFit/>
          </a:bodyPr>
          <a:lstStyle/>
          <a:p>
            <a:pPr algn="ctr"/>
            <a:r>
              <a:rPr lang="ko-KR" altLang="en-US" sz="2800" b="1" dirty="0">
                <a:latin typeface="+mj-ea"/>
                <a:ea typeface="+mj-ea"/>
              </a:rPr>
              <a:t>잔액</a:t>
            </a:r>
            <a:endParaRPr lang="en-US" altLang="ko-KR" sz="2800" b="1" dirty="0">
              <a:latin typeface="+mj-ea"/>
              <a:ea typeface="+mj-ea"/>
            </a:endParaRPr>
          </a:p>
          <a:p>
            <a:pPr algn="ctr"/>
            <a:r>
              <a:rPr lang="en-US" altLang="ko-KR" sz="2800" b="1" dirty="0">
                <a:latin typeface="+mj-ea"/>
                <a:ea typeface="+mj-ea"/>
              </a:rPr>
              <a:t>(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State</a:t>
            </a:r>
            <a:r>
              <a:rPr lang="en-US" altLang="ko-KR" sz="2800" b="1" dirty="0">
                <a:latin typeface="+mj-ea"/>
                <a:ea typeface="+mj-ea"/>
              </a:rPr>
              <a:t>)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DE2C3CB-9AEC-3D22-937F-8F2473948F0F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3005357" y="2463083"/>
            <a:ext cx="53794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2B30C0F3-A39F-2834-69AD-CEB1D258E300}"/>
              </a:ext>
            </a:extLst>
          </p:cNvPr>
          <p:cNvCxnSpPr>
            <a:cxnSpLocks/>
          </p:cNvCxnSpPr>
          <p:nvPr/>
        </p:nvCxnSpPr>
        <p:spPr>
          <a:xfrm>
            <a:off x="5909016" y="2463083"/>
            <a:ext cx="57750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6BC9F060-703A-26A3-4B1D-C756C0F2F8C8}"/>
              </a:ext>
            </a:extLst>
          </p:cNvPr>
          <p:cNvCxnSpPr>
            <a:cxnSpLocks/>
          </p:cNvCxnSpPr>
          <p:nvPr/>
        </p:nvCxnSpPr>
        <p:spPr>
          <a:xfrm>
            <a:off x="8803884" y="2463083"/>
            <a:ext cx="578241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1A21BE9-CD20-EC8C-1464-FF86D030686F}"/>
              </a:ext>
            </a:extLst>
          </p:cNvPr>
          <p:cNvSpPr txBox="1"/>
          <p:nvPr/>
        </p:nvSpPr>
        <p:spPr>
          <a:xfrm>
            <a:off x="495837" y="3429000"/>
            <a:ext cx="11397802" cy="2502032"/>
          </a:xfrm>
          <a:prstGeom prst="rect">
            <a:avLst/>
          </a:prstGeom>
          <a:noFill/>
        </p:spPr>
        <p:txBody>
          <a:bodyPr wrap="square" lIns="108000" t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>
                <a:latin typeface="+mj-ea"/>
                <a:ea typeface="+mj-ea"/>
              </a:rPr>
              <a:t>1. Dispatch: </a:t>
            </a:r>
            <a:r>
              <a:rPr lang="en-US" altLang="ko-KR" sz="2800" b="1" dirty="0">
                <a:latin typeface="+mj-ea"/>
              </a:rPr>
              <a:t>'</a:t>
            </a:r>
            <a:r>
              <a:rPr lang="ko-KR" altLang="en-US" sz="2800" b="1" dirty="0">
                <a:latin typeface="+mj-ea"/>
                <a:ea typeface="+mj-ea"/>
              </a:rPr>
              <a:t>천원을 인출해 주세요</a:t>
            </a:r>
            <a:r>
              <a:rPr lang="en-US" altLang="ko-KR" sz="2800" b="1" dirty="0">
                <a:latin typeface="+mj-ea"/>
              </a:rPr>
              <a:t>' </a:t>
            </a:r>
            <a:r>
              <a:rPr lang="ko-KR" altLang="en-US" sz="2800" b="1" dirty="0">
                <a:latin typeface="+mj-ea"/>
                <a:ea typeface="+mj-ea"/>
              </a:rPr>
              <a:t>라고 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  <a:ea typeface="+mj-ea"/>
              </a:rPr>
              <a:t>처리를 요청하는 함수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en-US" altLang="ko-KR" sz="2800" b="1" dirty="0">
                <a:latin typeface="+mj-ea"/>
              </a:rPr>
              <a:t>2. Action: </a:t>
            </a:r>
            <a:r>
              <a:rPr lang="ko-KR" altLang="en-US" sz="2800" b="1" dirty="0">
                <a:latin typeface="+mj-ea"/>
              </a:rPr>
              <a:t>구체적인 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</a:rPr>
              <a:t>요청 내용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</a:rPr>
              <a:t> </a:t>
            </a:r>
            <a:r>
              <a:rPr lang="en-US" altLang="ko-KR" sz="2800" b="1" dirty="0">
                <a:latin typeface="+mj-ea"/>
              </a:rPr>
              <a:t>(</a:t>
            </a:r>
            <a:r>
              <a:rPr lang="ko-KR" altLang="en-US" sz="2800" b="1" dirty="0">
                <a:latin typeface="+mj-ea"/>
              </a:rPr>
              <a:t>예</a:t>
            </a:r>
            <a:r>
              <a:rPr lang="en-US" altLang="ko-KR" sz="2800" b="1" dirty="0">
                <a:latin typeface="+mj-ea"/>
              </a:rPr>
              <a:t>: type: '</a:t>
            </a:r>
            <a:r>
              <a:rPr lang="ko-KR" altLang="en-US" sz="2800" b="1" dirty="0">
                <a:latin typeface="+mj-ea"/>
              </a:rPr>
              <a:t>출금</a:t>
            </a:r>
            <a:r>
              <a:rPr lang="en-US" altLang="ko-KR" sz="2800" b="1" dirty="0">
                <a:latin typeface="+mj-ea"/>
              </a:rPr>
              <a:t>', amount:1,000)</a:t>
            </a:r>
            <a:endParaRPr lang="en-US" altLang="ko-KR" sz="2800" b="1" dirty="0">
              <a:solidFill>
                <a:srgbClr val="FFFF00"/>
              </a:solidFill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2800" b="1" dirty="0">
                <a:latin typeface="+mj-ea"/>
              </a:rPr>
              <a:t>3. Reducer : </a:t>
            </a:r>
            <a:r>
              <a:rPr lang="ko-KR" altLang="en-US" sz="2800" b="1" dirty="0">
                <a:latin typeface="+mj-ea"/>
              </a:rPr>
              <a:t>요청 내용</a:t>
            </a:r>
            <a:r>
              <a:rPr lang="en-US" altLang="ko-KR" sz="2800" b="1" dirty="0">
                <a:latin typeface="+mj-ea"/>
              </a:rPr>
              <a:t>(Action)</a:t>
            </a:r>
            <a:r>
              <a:rPr lang="ko-KR" altLang="en-US" sz="2800" b="1" dirty="0">
                <a:latin typeface="+mj-ea"/>
              </a:rPr>
              <a:t>에 따라 잔액을 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</a:rPr>
              <a:t>업데이트하는 함수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2800" b="1" dirty="0">
                <a:latin typeface="+mj-ea"/>
              </a:rPr>
              <a:t>4. State: </a:t>
            </a:r>
            <a:r>
              <a:rPr lang="ko-KR" altLang="en-US" sz="2800" b="1" dirty="0">
                <a:latin typeface="+mj-ea"/>
              </a:rPr>
              <a:t>현재 내 통장에 들어있는 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</a:rPr>
              <a:t>잔액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</a:rPr>
              <a:t>(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</a:rPr>
              <a:t>상태 값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01704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BC62A-4E16-7B5E-6C4E-4854248EB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래픽 10">
            <a:extLst>
              <a:ext uri="{FF2B5EF4-FFF2-40B4-BE49-F238E27FC236}">
                <a16:creationId xmlns:a16="http://schemas.microsoft.com/office/drawing/2014/main" id="{F367401F-DB11-B3E7-4AC5-AF6005B406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6B1B107-8ED4-FA7C-E76B-48F6873B55F3}"/>
              </a:ext>
            </a:extLst>
          </p:cNvPr>
          <p:cNvSpPr txBox="1"/>
          <p:nvPr/>
        </p:nvSpPr>
        <p:spPr>
          <a:xfrm>
            <a:off x="1653569" y="375293"/>
            <a:ext cx="70050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err="1">
                <a:latin typeface="+mj-ea"/>
                <a:ea typeface="+mj-ea"/>
              </a:rPr>
              <a:t>useReducer</a:t>
            </a:r>
            <a:r>
              <a:rPr lang="en-US" altLang="ko-KR" sz="4400" b="1" dirty="0">
                <a:latin typeface="+mj-ea"/>
                <a:ea typeface="+mj-ea"/>
              </a:rPr>
              <a:t> </a:t>
            </a:r>
            <a:r>
              <a:rPr lang="ko-KR" altLang="en-US" sz="4400" b="1" dirty="0">
                <a:latin typeface="+mj-ea"/>
                <a:ea typeface="+mj-ea"/>
              </a:rPr>
              <a:t>형식</a:t>
            </a:r>
            <a:endParaRPr lang="en-US" altLang="ko-KR" sz="4400" b="1" dirty="0"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A5263F-8C5D-5566-A23E-D73A3D5D7F68}"/>
              </a:ext>
            </a:extLst>
          </p:cNvPr>
          <p:cNvSpPr txBox="1"/>
          <p:nvPr/>
        </p:nvSpPr>
        <p:spPr>
          <a:xfrm>
            <a:off x="1114426" y="2396699"/>
            <a:ext cx="10310446" cy="794403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txBody>
          <a:bodyPr wrap="square" lIns="360000" tIns="180000" rIns="360000" bIns="180000" rtlCol="0">
            <a:spAutoFit/>
          </a:bodyPr>
          <a:lstStyle/>
          <a:p>
            <a:pPr algn="ctr"/>
            <a:r>
              <a:rPr lang="en-US" altLang="ko-KR" sz="2800" b="1" dirty="0">
                <a:latin typeface="+mj-ea"/>
                <a:ea typeface="+mj-ea"/>
              </a:rPr>
              <a:t>const [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state</a:t>
            </a:r>
            <a:r>
              <a:rPr lang="en-US" altLang="ko-KR" sz="2800" b="1" dirty="0">
                <a:latin typeface="+mj-ea"/>
                <a:ea typeface="+mj-ea"/>
              </a:rPr>
              <a:t>, 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dispatch</a:t>
            </a:r>
            <a:r>
              <a:rPr lang="en-US" altLang="ko-KR" sz="2800" b="1" dirty="0">
                <a:latin typeface="+mj-ea"/>
                <a:ea typeface="+mj-ea"/>
              </a:rPr>
              <a:t>] = </a:t>
            </a:r>
            <a:r>
              <a:rPr lang="en-US" altLang="ko-KR" sz="2800" b="1" dirty="0" err="1">
                <a:latin typeface="+mj-ea"/>
                <a:ea typeface="+mj-ea"/>
              </a:rPr>
              <a:t>useReducer</a:t>
            </a:r>
            <a:r>
              <a:rPr lang="en-US" altLang="ko-KR" sz="2800" b="1" dirty="0">
                <a:latin typeface="+mj-ea"/>
                <a:ea typeface="+mj-ea"/>
              </a:rPr>
              <a:t>(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reducer</a:t>
            </a:r>
            <a:r>
              <a:rPr lang="en-US" altLang="ko-KR" sz="2800" b="1" dirty="0">
                <a:latin typeface="+mj-ea"/>
                <a:ea typeface="+mj-ea"/>
              </a:rPr>
              <a:t>, </a:t>
            </a:r>
            <a:r>
              <a:rPr lang="en-US" altLang="ko-KR" sz="2800" b="1" dirty="0" err="1">
                <a:solidFill>
                  <a:srgbClr val="FFFF00"/>
                </a:solidFill>
                <a:latin typeface="+mj-ea"/>
                <a:ea typeface="+mj-ea"/>
              </a:rPr>
              <a:t>initialSate</a:t>
            </a:r>
            <a:r>
              <a:rPr lang="en-US" altLang="ko-KR" sz="2800" b="1" dirty="0">
                <a:latin typeface="+mj-ea"/>
                <a:ea typeface="+mj-ea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1CED8-15BB-77FD-A304-A86C19182DE7}"/>
              </a:ext>
            </a:extLst>
          </p:cNvPr>
          <p:cNvSpPr txBox="1"/>
          <p:nvPr/>
        </p:nvSpPr>
        <p:spPr>
          <a:xfrm>
            <a:off x="1223451" y="1794752"/>
            <a:ext cx="9977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 b="1" dirty="0">
                <a:latin typeface="+mj-ea"/>
                <a:ea typeface="+mj-ea"/>
              </a:rPr>
              <a:t>reducer </a:t>
            </a:r>
            <a:r>
              <a:rPr lang="ko-KR" altLang="en-US" sz="2400" b="1" dirty="0">
                <a:latin typeface="+mj-ea"/>
                <a:ea typeface="+mj-ea"/>
              </a:rPr>
              <a:t>함수와 </a:t>
            </a:r>
            <a:r>
              <a:rPr lang="en-US" altLang="ko-KR" sz="2400" b="1" dirty="0" err="1">
                <a:latin typeface="+mj-ea"/>
                <a:ea typeface="+mj-ea"/>
              </a:rPr>
              <a:t>initialState</a:t>
            </a:r>
            <a:r>
              <a:rPr lang="en-US" altLang="ko-KR" sz="2400" b="1" dirty="0">
                <a:latin typeface="+mj-ea"/>
                <a:ea typeface="+mj-ea"/>
              </a:rPr>
              <a:t> </a:t>
            </a:r>
            <a:r>
              <a:rPr lang="ko-KR" altLang="en-US" sz="2400" b="1" dirty="0">
                <a:latin typeface="+mj-ea"/>
                <a:ea typeface="+mj-ea"/>
              </a:rPr>
              <a:t>인자로 넣어 </a:t>
            </a:r>
            <a:r>
              <a:rPr lang="en-US" altLang="ko-KR" sz="2400" b="1" dirty="0">
                <a:latin typeface="+mj-ea"/>
                <a:ea typeface="+mj-ea"/>
              </a:rPr>
              <a:t>state, dispatch</a:t>
            </a:r>
            <a:r>
              <a:rPr lang="ko-KR" altLang="en-US" sz="2400" b="1" dirty="0">
                <a:latin typeface="+mj-ea"/>
                <a:ea typeface="+mj-ea"/>
              </a:rPr>
              <a:t>를 리턴 한다</a:t>
            </a:r>
            <a:r>
              <a:rPr lang="en-US" altLang="ko-KR" sz="2400" b="1" dirty="0">
                <a:latin typeface="+mj-ea"/>
                <a:ea typeface="+mj-ea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4E8CB8-0684-4B94-A783-6488E77E40A8}"/>
              </a:ext>
            </a:extLst>
          </p:cNvPr>
          <p:cNvSpPr txBox="1"/>
          <p:nvPr/>
        </p:nvSpPr>
        <p:spPr>
          <a:xfrm>
            <a:off x="1010090" y="3429000"/>
            <a:ext cx="10464018" cy="2594365"/>
          </a:xfrm>
          <a:prstGeom prst="rect">
            <a:avLst/>
          </a:prstGeom>
          <a:noFill/>
        </p:spPr>
        <p:txBody>
          <a:bodyPr wrap="square" lIns="108000" t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800" b="1" dirty="0">
                <a:latin typeface="+mj-ea"/>
                <a:ea typeface="+mj-ea"/>
              </a:rPr>
              <a:t>1. </a:t>
            </a:r>
            <a:r>
              <a:rPr lang="en-US" altLang="ko-KR" sz="2800" b="1" dirty="0" err="1">
                <a:latin typeface="+mj-ea"/>
                <a:ea typeface="+mj-ea"/>
              </a:rPr>
              <a:t>initialState</a:t>
            </a:r>
            <a:r>
              <a:rPr lang="en-US" altLang="ko-KR" sz="2800" b="1" dirty="0">
                <a:latin typeface="+mj-ea"/>
                <a:ea typeface="+mj-ea"/>
              </a:rPr>
              <a:t>: </a:t>
            </a:r>
            <a:r>
              <a:rPr lang="en-US" altLang="ko-KR" sz="2800" b="1" dirty="0" err="1">
                <a:latin typeface="+mj-ea"/>
                <a:ea typeface="+mj-ea"/>
              </a:rPr>
              <a:t>useReducer</a:t>
            </a:r>
            <a:r>
              <a:rPr lang="ko-KR" altLang="en-US" sz="2800" b="1" dirty="0">
                <a:latin typeface="+mj-ea"/>
                <a:ea typeface="+mj-ea"/>
              </a:rPr>
              <a:t>가 처음 호출될 때의 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  <a:ea typeface="+mj-ea"/>
              </a:rPr>
              <a:t>초기 상태 값</a:t>
            </a:r>
            <a:endParaRPr lang="en-US" altLang="ko-KR" sz="2800" b="1" dirty="0">
              <a:solidFill>
                <a:srgbClr val="FFFF00"/>
              </a:solidFill>
              <a:latin typeface="+mj-ea"/>
              <a:ea typeface="+mj-ea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2800" b="1" dirty="0">
                <a:latin typeface="+mj-ea"/>
              </a:rPr>
              <a:t>2. reducer: sate</a:t>
            </a:r>
            <a:r>
              <a:rPr lang="ko-KR" altLang="en-US" sz="2800" b="1" dirty="0">
                <a:latin typeface="+mj-ea"/>
              </a:rPr>
              <a:t>를 변경할 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</a:rPr>
              <a:t>순수한 함수</a:t>
            </a:r>
            <a:endParaRPr lang="en-US" altLang="ko-KR" sz="2800" b="1" dirty="0">
              <a:solidFill>
                <a:srgbClr val="FFFF00"/>
              </a:solidFill>
              <a:latin typeface="+mj-ea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2800" b="1" dirty="0">
                <a:latin typeface="+mj-ea"/>
              </a:rPr>
              <a:t>3. state: reducer</a:t>
            </a:r>
            <a:r>
              <a:rPr lang="ko-KR" altLang="en-US" sz="2800" b="1" dirty="0">
                <a:latin typeface="+mj-ea"/>
              </a:rPr>
              <a:t> 함수를 통해 계산된 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</a:rPr>
              <a:t>현재의 상태 값</a:t>
            </a:r>
            <a:endParaRPr lang="en-US" altLang="ko-KR" sz="2800" b="1" dirty="0">
              <a:solidFill>
                <a:srgbClr val="FFFF00"/>
              </a:solidFill>
              <a:latin typeface="+mj-ea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2800" b="1" dirty="0">
                <a:latin typeface="+mj-ea"/>
              </a:rPr>
              <a:t>4. dispatch: </a:t>
            </a:r>
            <a:r>
              <a:rPr lang="ko-KR" altLang="en-US" sz="2800" b="1" dirty="0">
                <a:latin typeface="+mj-ea"/>
              </a:rPr>
              <a:t>상태</a:t>
            </a:r>
            <a:r>
              <a:rPr lang="en-US" altLang="ko-KR" sz="2800" b="1" dirty="0">
                <a:latin typeface="+mj-ea"/>
              </a:rPr>
              <a:t>(state)</a:t>
            </a:r>
            <a:r>
              <a:rPr lang="ko-KR" altLang="en-US" sz="2800" b="1" dirty="0">
                <a:latin typeface="+mj-ea"/>
              </a:rPr>
              <a:t>를 변경 시 필요한 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</a:rPr>
              <a:t>정보 전달하는 함수</a:t>
            </a:r>
            <a:endParaRPr lang="en-US" altLang="ko-KR" sz="2800" b="1" dirty="0">
              <a:solidFill>
                <a:srgbClr val="FFFF00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207855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4B0B0-7193-9C3E-8ACC-D10E43308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래픽 10">
            <a:extLst>
              <a:ext uri="{FF2B5EF4-FFF2-40B4-BE49-F238E27FC236}">
                <a16:creationId xmlns:a16="http://schemas.microsoft.com/office/drawing/2014/main" id="{FF392E5D-9855-D6CB-A346-AB699A5A01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1D2EB4F-FC5E-5438-6737-F4A252642506}"/>
              </a:ext>
            </a:extLst>
          </p:cNvPr>
          <p:cNvSpPr txBox="1"/>
          <p:nvPr/>
        </p:nvSpPr>
        <p:spPr>
          <a:xfrm>
            <a:off x="1653569" y="375293"/>
            <a:ext cx="70050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err="1">
                <a:latin typeface="+mj-ea"/>
                <a:ea typeface="+mj-ea"/>
              </a:rPr>
              <a:t>useReducer</a:t>
            </a:r>
            <a:r>
              <a:rPr lang="en-US" altLang="ko-KR" sz="4400" b="1" dirty="0">
                <a:latin typeface="+mj-ea"/>
                <a:ea typeface="+mj-ea"/>
              </a:rPr>
              <a:t> </a:t>
            </a:r>
            <a:r>
              <a:rPr lang="ko-KR" altLang="en-US" sz="4400" b="1">
                <a:latin typeface="+mj-ea"/>
                <a:ea typeface="+mj-ea"/>
              </a:rPr>
              <a:t>사용 예제</a:t>
            </a:r>
            <a:endParaRPr lang="en-US" altLang="ko-KR" sz="4400" b="1" dirty="0"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BDF45A-F4B3-30BD-6C3A-0041058DFD4D}"/>
              </a:ext>
            </a:extLst>
          </p:cNvPr>
          <p:cNvSpPr txBox="1"/>
          <p:nvPr/>
        </p:nvSpPr>
        <p:spPr>
          <a:xfrm>
            <a:off x="1523994" y="1301029"/>
            <a:ext cx="8991903" cy="2517952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txBody>
          <a:bodyPr wrap="square" lIns="360000" tIns="180000" bIns="180000" rtlCol="0">
            <a:spAutoFit/>
          </a:bodyPr>
          <a:lstStyle/>
          <a:p>
            <a:r>
              <a:rPr lang="en-US" altLang="ko-KR" sz="2800" b="1" dirty="0">
                <a:latin typeface="+mj-ea"/>
                <a:ea typeface="+mj-ea"/>
              </a:rPr>
              <a:t>const 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reducer</a:t>
            </a:r>
            <a:r>
              <a:rPr lang="en-US" altLang="ko-KR" sz="2800" b="1" dirty="0">
                <a:latin typeface="+mj-ea"/>
                <a:ea typeface="+mj-ea"/>
              </a:rPr>
              <a:t> = (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state</a:t>
            </a:r>
            <a:r>
              <a:rPr lang="en-US" altLang="ko-KR" sz="2800" b="1" dirty="0">
                <a:latin typeface="+mj-ea"/>
                <a:ea typeface="+mj-ea"/>
              </a:rPr>
              <a:t>, 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action</a:t>
            </a:r>
            <a:r>
              <a:rPr lang="en-US" altLang="ko-KR" sz="2800" b="1" dirty="0">
                <a:latin typeface="+mj-ea"/>
                <a:ea typeface="+mj-ea"/>
              </a:rPr>
              <a:t>) =&gt; {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    switch(</a:t>
            </a:r>
            <a:r>
              <a:rPr lang="en-US" altLang="ko-KR" sz="2800" b="1" dirty="0" err="1">
                <a:solidFill>
                  <a:srgbClr val="FFFF00"/>
                </a:solidFill>
                <a:latin typeface="+mj-ea"/>
                <a:ea typeface="+mj-ea"/>
              </a:rPr>
              <a:t>action.type</a:t>
            </a:r>
            <a:r>
              <a:rPr lang="en-US" altLang="ko-KR" sz="2800" b="1" dirty="0">
                <a:latin typeface="+mj-ea"/>
                <a:ea typeface="+mj-ea"/>
              </a:rPr>
              <a:t>)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	    case </a:t>
            </a:r>
            <a:r>
              <a:rPr lang="en-US" altLang="ko-KR" sz="2800" b="1" dirty="0">
                <a:latin typeface="+mj-ea"/>
              </a:rPr>
              <a:t>'</a:t>
            </a:r>
            <a:r>
              <a:rPr lang="ko-KR" altLang="en-US" sz="2800" b="1" dirty="0">
                <a:latin typeface="+mj-ea"/>
                <a:ea typeface="+mj-ea"/>
              </a:rPr>
              <a:t>출금</a:t>
            </a:r>
            <a:r>
              <a:rPr lang="en-US" altLang="ko-KR" sz="2800" b="1" dirty="0">
                <a:latin typeface="+mj-ea"/>
              </a:rPr>
              <a:t>'</a:t>
            </a:r>
            <a:r>
              <a:rPr lang="en-US" altLang="ko-KR" sz="2800" b="1" dirty="0">
                <a:latin typeface="+mj-ea"/>
                <a:ea typeface="+mj-ea"/>
              </a:rPr>
              <a:t>: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		    return state - </a:t>
            </a:r>
            <a:r>
              <a:rPr lang="en-US" altLang="ko-KR" sz="2800" b="1" dirty="0" err="1">
                <a:solidFill>
                  <a:srgbClr val="FFFF00"/>
                </a:solidFill>
                <a:latin typeface="+mj-ea"/>
                <a:ea typeface="+mj-ea"/>
              </a:rPr>
              <a:t>action.amount</a:t>
            </a:r>
            <a:endParaRPr lang="en-US" altLang="ko-KR" sz="2800" b="1" dirty="0">
              <a:solidFill>
                <a:srgbClr val="FFFF00"/>
              </a:solidFill>
              <a:latin typeface="+mj-ea"/>
              <a:ea typeface="+mj-ea"/>
            </a:endParaRPr>
          </a:p>
          <a:p>
            <a:r>
              <a:rPr lang="en-US" altLang="ko-KR" sz="2800" b="1" dirty="0">
                <a:latin typeface="+mj-ea"/>
                <a:ea typeface="+mj-ea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CC0C26-EC5D-391C-5EDC-ECF24B32E1F8}"/>
              </a:ext>
            </a:extLst>
          </p:cNvPr>
          <p:cNvSpPr txBox="1"/>
          <p:nvPr/>
        </p:nvSpPr>
        <p:spPr>
          <a:xfrm>
            <a:off x="2190451" y="3347582"/>
            <a:ext cx="9458624" cy="2948839"/>
          </a:xfrm>
          <a:prstGeom prst="rect">
            <a:avLst/>
          </a:prstGeom>
          <a:solidFill>
            <a:schemeClr val="bg1"/>
          </a:solidFill>
          <a:ln w="25400" cmpd="sng">
            <a:solidFill>
              <a:schemeClr val="tx1"/>
            </a:solidFill>
          </a:ln>
        </p:spPr>
        <p:txBody>
          <a:bodyPr wrap="square" lIns="360000" tIns="180000" bIns="180000" rtlCol="0">
            <a:spAutoFit/>
          </a:bodyPr>
          <a:lstStyle/>
          <a:p>
            <a:r>
              <a:rPr lang="en-US" altLang="ko-KR" sz="2800" b="1" dirty="0">
                <a:latin typeface="+mj-ea"/>
                <a:ea typeface="+mj-ea"/>
              </a:rPr>
              <a:t>const [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state</a:t>
            </a:r>
            <a:r>
              <a:rPr lang="en-US" altLang="ko-KR" sz="2800" b="1" dirty="0">
                <a:latin typeface="+mj-ea"/>
                <a:ea typeface="+mj-ea"/>
              </a:rPr>
              <a:t>, </a:t>
            </a:r>
            <a:r>
              <a:rPr lang="en-US" altLang="ko-KR" sz="2800" b="1" dirty="0" err="1">
                <a:solidFill>
                  <a:srgbClr val="FFFF00"/>
                </a:solidFill>
                <a:latin typeface="+mj-ea"/>
                <a:ea typeface="+mj-ea"/>
              </a:rPr>
              <a:t>dispath</a:t>
            </a:r>
            <a:r>
              <a:rPr lang="en-US" altLang="ko-KR" sz="2800" b="1" dirty="0">
                <a:latin typeface="+mj-ea"/>
                <a:ea typeface="+mj-ea"/>
              </a:rPr>
              <a:t>] = </a:t>
            </a:r>
            <a:r>
              <a:rPr lang="en-US" altLang="ko-KR" sz="2800" b="1" dirty="0" err="1">
                <a:latin typeface="+mj-ea"/>
                <a:ea typeface="+mj-ea"/>
              </a:rPr>
              <a:t>useReducer</a:t>
            </a:r>
            <a:r>
              <a:rPr lang="en-US" altLang="ko-KR" sz="2800" b="1" dirty="0">
                <a:latin typeface="+mj-ea"/>
                <a:ea typeface="+mj-ea"/>
              </a:rPr>
              <a:t>(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reducer</a:t>
            </a:r>
            <a:r>
              <a:rPr lang="en-US" altLang="ko-KR" sz="2800" b="1" dirty="0">
                <a:latin typeface="+mj-ea"/>
                <a:ea typeface="+mj-ea"/>
              </a:rPr>
              <a:t>, 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1000</a:t>
            </a:r>
            <a:r>
              <a:rPr lang="en-US" altLang="ko-KR" sz="2800" b="1" dirty="0">
                <a:latin typeface="+mj-ea"/>
                <a:ea typeface="+mj-ea"/>
              </a:rPr>
              <a:t>)</a:t>
            </a:r>
          </a:p>
          <a:p>
            <a:endParaRPr lang="en-US" altLang="ko-KR" sz="2800" b="1" dirty="0">
              <a:latin typeface="+mj-ea"/>
              <a:ea typeface="+mj-ea"/>
            </a:endParaRPr>
          </a:p>
          <a:p>
            <a:r>
              <a:rPr lang="en-US" altLang="ko-KR" sz="2800" b="1" dirty="0">
                <a:latin typeface="+mj-ea"/>
                <a:ea typeface="+mj-ea"/>
              </a:rPr>
              <a:t>const </a:t>
            </a:r>
            <a:r>
              <a:rPr lang="en-US" altLang="ko-KR" sz="2800" b="1" dirty="0" err="1">
                <a:latin typeface="+mj-ea"/>
                <a:ea typeface="+mj-ea"/>
              </a:rPr>
              <a:t>onWithdraw</a:t>
            </a:r>
            <a:r>
              <a:rPr lang="en-US" altLang="ko-KR" sz="2800" b="1" dirty="0">
                <a:latin typeface="+mj-ea"/>
                <a:ea typeface="+mj-ea"/>
              </a:rPr>
              <a:t> = () =&gt; {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    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dispatch</a:t>
            </a:r>
            <a:r>
              <a:rPr lang="en-US" altLang="ko-KR" sz="2800" b="1" dirty="0">
                <a:latin typeface="+mj-ea"/>
                <a:ea typeface="+mj-ea"/>
              </a:rPr>
              <a:t>({ 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type</a:t>
            </a:r>
            <a:r>
              <a:rPr lang="en-US" altLang="ko-KR" sz="2800" b="1" dirty="0">
                <a:latin typeface="+mj-ea"/>
                <a:ea typeface="+mj-ea"/>
              </a:rPr>
              <a:t>:</a:t>
            </a:r>
            <a:r>
              <a:rPr lang="en-US" altLang="ko-KR" sz="2800" b="1" dirty="0">
                <a:latin typeface="+mj-ea"/>
              </a:rPr>
              <a:t>'</a:t>
            </a:r>
            <a:r>
              <a:rPr lang="ko-KR" altLang="en-US" sz="2800" b="1" dirty="0">
                <a:latin typeface="+mj-ea"/>
                <a:ea typeface="+mj-ea"/>
              </a:rPr>
              <a:t>출금</a:t>
            </a:r>
            <a:r>
              <a:rPr lang="en-US" altLang="ko-KR" sz="2800" b="1" dirty="0">
                <a:latin typeface="+mj-ea"/>
              </a:rPr>
              <a:t>’</a:t>
            </a:r>
            <a:r>
              <a:rPr lang="en-US" altLang="ko-KR" sz="2800" b="1" dirty="0">
                <a:latin typeface="+mj-ea"/>
                <a:ea typeface="+mj-ea"/>
              </a:rPr>
              <a:t>, 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amount</a:t>
            </a:r>
            <a:r>
              <a:rPr lang="en-US" altLang="ko-KR" sz="2800" b="1" dirty="0">
                <a:latin typeface="+mj-ea"/>
                <a:ea typeface="+mj-ea"/>
              </a:rPr>
              <a:t>:100 });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}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&lt;button </a:t>
            </a:r>
            <a:r>
              <a:rPr lang="en-US" altLang="ko-KR" sz="2800" b="1" dirty="0" err="1">
                <a:latin typeface="+mj-ea"/>
                <a:ea typeface="+mj-ea"/>
              </a:rPr>
              <a:t>onClick</a:t>
            </a:r>
            <a:r>
              <a:rPr lang="en-US" altLang="ko-KR" sz="2800" b="1" dirty="0">
                <a:latin typeface="+mj-ea"/>
                <a:ea typeface="+mj-ea"/>
              </a:rPr>
              <a:t>={ </a:t>
            </a:r>
            <a:r>
              <a:rPr lang="en-US" altLang="ko-KR" sz="2800" b="1" dirty="0" err="1">
                <a:latin typeface="+mj-ea"/>
                <a:ea typeface="+mj-ea"/>
              </a:rPr>
              <a:t>onWithdraw</a:t>
            </a:r>
            <a:r>
              <a:rPr lang="en-US" altLang="ko-KR" sz="2800" b="1" dirty="0">
                <a:latin typeface="+mj-ea"/>
                <a:ea typeface="+mj-ea"/>
              </a:rPr>
              <a:t> }&gt;</a:t>
            </a:r>
            <a:r>
              <a:rPr lang="ko-KR" altLang="en-US" sz="2800" b="1" dirty="0">
                <a:latin typeface="+mj-ea"/>
                <a:ea typeface="+mj-ea"/>
              </a:rPr>
              <a:t>출금</a:t>
            </a:r>
            <a:r>
              <a:rPr lang="en-US" altLang="ko-KR" sz="2800" b="1" dirty="0">
                <a:latin typeface="+mj-ea"/>
                <a:ea typeface="+mj-ea"/>
              </a:rPr>
              <a:t>&lt;/button</a:t>
            </a:r>
            <a:r>
              <a:rPr lang="en-US" altLang="ko-KR" sz="2400" b="1" dirty="0">
                <a:latin typeface="+mj-ea"/>
                <a:ea typeface="+mj-ea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870276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1455</TotalTime>
  <Words>279</Words>
  <Application>Microsoft Office PowerPoint</Application>
  <PresentationFormat>와이드스크린</PresentationFormat>
  <Paragraphs>42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조향덕</dc:creator>
  <cp:lastModifiedBy>조향덕</cp:lastModifiedBy>
  <cp:revision>54</cp:revision>
  <dcterms:created xsi:type="dcterms:W3CDTF">2025-10-29T02:21:35Z</dcterms:created>
  <dcterms:modified xsi:type="dcterms:W3CDTF">2026-02-11T07:01:55Z</dcterms:modified>
</cp:coreProperties>
</file>