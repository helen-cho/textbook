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7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23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D04371-E4F7-A7DC-2F01-D9414048A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35BC7F-DF62-9CF1-EC3C-D2745C7C7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6A1548-8C23-79A3-98F1-74F82A72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CA76-244A-4311-9F6D-3B7E8491913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56C40F-4834-1107-BA57-93C7EF92B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505DB4-5D25-1756-0E5D-D1F5DF62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F34D-AE51-4539-B357-DAF1C59B38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961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7E06B8-2BB5-9F20-0FE5-AE52ABDA7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A506AA-F572-80CA-64AF-8AC145677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DCB3E6-CD9C-68F1-3450-41239BFCD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CA76-244A-4311-9F6D-3B7E8491913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ED9C62-4453-EB06-08F4-A09E317D8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489280-2F17-5FE5-FF66-6E4CEB3C0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F34D-AE51-4539-B357-DAF1C59B38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724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DD82DF-653B-972D-6112-679EC47CA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24F725-356B-9408-55DD-31776F5D3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150ED8-A131-D212-8EB8-4593E6C6D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CA76-244A-4311-9F6D-3B7E8491913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DD1CF9-D2B5-F536-AF6F-88F978F5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5E9849-EFE0-ADBA-B457-B6E5A3FB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F34D-AE51-4539-B357-DAF1C59B38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915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D31A7-E1DC-ED9A-47AD-3EB15D1A0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81E48A-688C-F1F8-44FD-6827AE5D0F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A8919D-0932-190F-0912-748EAED12E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D91932-9C28-1D9D-87AC-907B932D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CA76-244A-4311-9F6D-3B7E8491913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E64466-7319-B997-B2B4-440C4E36F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F9F455-23FC-01C3-2726-B6688A1B9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F34D-AE51-4539-B357-DAF1C59B38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168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56634-5735-E524-3805-F27DF9773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EB8FD1-3EE5-8759-DA81-AD51F069D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0EB4733-8C27-2B6D-2EAE-EFF57246D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CB026F-8218-38CA-2021-B971064B71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F60F1CA-1BD2-17B3-EC6F-9DE7B40BEF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FE44B0-5B45-9DB6-E6A5-EE7A57E9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CA76-244A-4311-9F6D-3B7E8491913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8F464C-AF1F-7C01-FFF7-4AD68087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8431139-F105-CF33-3783-CD0F2A48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F34D-AE51-4539-B357-DAF1C59B38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389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EA1120-AEA6-2203-3FAC-F399A3D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24F6FD-2AB4-A0CC-D70A-6D02E26F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CA76-244A-4311-9F6D-3B7E8491913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DAAB64-8C55-F23D-D52A-DB37550AB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2E2958-246F-364D-AFDE-6B7C03240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F34D-AE51-4539-B357-DAF1C59B38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677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BCC343E-8F8D-563C-1B87-C678B894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CA76-244A-4311-9F6D-3B7E8491913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4996363-2236-FEC7-85B0-3B10B9D72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2E71C6-B01C-18CE-3ADC-2FD934088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F34D-AE51-4539-B357-DAF1C59B38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821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DE502-DBA2-2FA8-06C4-0AD744923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8D5AED-D9EC-D823-8340-93A67B435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6B7527-F040-8D71-B15A-7B5B5BE6D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45C7F2-67BC-655C-0C3C-D4032D79A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CA76-244A-4311-9F6D-3B7E8491913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92882C0-99DF-673F-3BAF-3D80EC1C2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5E53DD-375B-FCE4-1E37-05B6BB27E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F34D-AE51-4539-B357-DAF1C59B38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54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02FBF-D347-2138-2947-2009C7C9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671669-45E7-CF52-6659-EC4AD1FAA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B98418-ED01-05F8-095B-63FC712F92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40E93E-4BE5-89DB-F020-380CCD88A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CA76-244A-4311-9F6D-3B7E8491913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807699-7568-E2AC-97EB-75F5B0E0C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143F59-30F7-3662-BF2F-34CE3D172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F34D-AE51-4539-B357-DAF1C59B38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499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547A2-B67A-A2B5-6C7F-F940D92D9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124DF8-1FF0-5B5E-6166-8BBDC4C4D4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66C99E-A2BE-72ED-3BFB-5886BBAC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CA76-244A-4311-9F6D-3B7E8491913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A1FABC-5C15-C429-887B-88360AB35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7F3508-57E3-EE90-4E79-1B5A9ED2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F34D-AE51-4539-B357-DAF1C59B38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72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94734AB-BA9E-538F-4596-E5CB1570DA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50DF7A-0959-C35D-765D-9B976DB34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609837-558B-790A-574B-E1AAAF6BE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ACA76-244A-4311-9F6D-3B7E8491913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4E746A-0616-06C0-B040-88F9FA35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4219A2-067B-A1F1-3B96-637393BE7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F34D-AE51-4539-B357-DAF1C59B38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332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1D2DDC-1D72-0030-8B26-5ABDE5EB5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6DBDA7-4287-B4BD-C726-E4708A28C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F699C0-8DDC-708A-4300-B133BF7AE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ACA76-244A-4311-9F6D-3B7E84919136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C3C3D2-A7C4-BD65-B4D9-1710A8D27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5B92F8-FA43-B004-2E94-C448E4DF0B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CF34D-AE51-4539-B357-DAF1C59B38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867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9D4C6CB6-9319-E8CE-5EAA-037A36B28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139" y="1052946"/>
            <a:ext cx="8120954" cy="49968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C345E9-EA61-9132-77E8-7CF8E1A27A25}"/>
              </a:ext>
            </a:extLst>
          </p:cNvPr>
          <p:cNvSpPr txBox="1"/>
          <p:nvPr/>
        </p:nvSpPr>
        <p:spPr>
          <a:xfrm>
            <a:off x="386017" y="1601714"/>
            <a:ext cx="34932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바이브</a:t>
            </a:r>
            <a:r>
              <a:rPr lang="ko-KR" altLang="en-US" sz="3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코딩 </a:t>
            </a:r>
            <a:endParaRPr lang="en-US" altLang="ko-KR" sz="3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3200" b="1" dirty="0" err="1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크롤링</a:t>
            </a:r>
            <a:r>
              <a:rPr lang="ko-KR" altLang="en-US" sz="3200" b="1" dirty="0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서비스</a:t>
            </a:r>
            <a:endParaRPr lang="en-US" altLang="ko-KR" sz="3200" b="1" dirty="0">
              <a:solidFill>
                <a:srgbClr val="FFC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DC000F2-59E1-5DB4-AF18-015EA27CED80}"/>
              </a:ext>
            </a:extLst>
          </p:cNvPr>
          <p:cNvCxnSpPr>
            <a:cxnSpLocks/>
          </p:cNvCxnSpPr>
          <p:nvPr/>
        </p:nvCxnSpPr>
        <p:spPr>
          <a:xfrm>
            <a:off x="220080" y="2792886"/>
            <a:ext cx="3437520" cy="0"/>
          </a:xfrm>
          <a:prstGeom prst="line">
            <a:avLst/>
          </a:prstGeom>
          <a:ln w="508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2392C35-E469-B6BC-70B9-5F3540AFE538}"/>
              </a:ext>
            </a:extLst>
          </p:cNvPr>
          <p:cNvSpPr txBox="1"/>
          <p:nvPr/>
        </p:nvSpPr>
        <p:spPr>
          <a:xfrm>
            <a:off x="314357" y="3006125"/>
            <a:ext cx="31585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크롤링을</a:t>
            </a:r>
            <a:r>
              <a:rPr lang="ko-KR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사용한 웹 사이트 데이터 수집</a:t>
            </a:r>
          </a:p>
        </p:txBody>
      </p:sp>
    </p:spTree>
    <p:extLst>
      <p:ext uri="{BB962C8B-B14F-4D97-AF65-F5344CB8AC3E}">
        <p14:creationId xmlns:p14="http://schemas.microsoft.com/office/powerpoint/2010/main" val="3862006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0E97D8C-A1E1-EDF3-3CC5-8DD631C83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599" y="205631"/>
            <a:ext cx="10102801" cy="62575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F6144FBC-AA00-864A-58DB-5FECFBF20B8F}"/>
              </a:ext>
            </a:extLst>
          </p:cNvPr>
          <p:cNvGrpSpPr/>
          <p:nvPr/>
        </p:nvGrpSpPr>
        <p:grpSpPr>
          <a:xfrm>
            <a:off x="5878945" y="1986136"/>
            <a:ext cx="4678219" cy="434109"/>
            <a:chOff x="5878945" y="1986136"/>
            <a:chExt cx="4678219" cy="434109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917C1A91-061A-F77D-3FBC-40037CBDA40F}"/>
                </a:ext>
              </a:extLst>
            </p:cNvPr>
            <p:cNvSpPr/>
            <p:nvPr/>
          </p:nvSpPr>
          <p:spPr>
            <a:xfrm>
              <a:off x="5878945" y="1986136"/>
              <a:ext cx="434109" cy="434109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216CAAF-6259-C440-C837-0D131B510BB8}"/>
                </a:ext>
              </a:extLst>
            </p:cNvPr>
            <p:cNvSpPr txBox="1"/>
            <p:nvPr/>
          </p:nvSpPr>
          <p:spPr>
            <a:xfrm>
              <a:off x="6316399" y="2065599"/>
              <a:ext cx="4240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네이버 거래상위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TOP 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종목 데이터를 실시간으로 수집한다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3C1A215B-8B6B-6B7A-EEAD-CD3F82F44895}"/>
              </a:ext>
            </a:extLst>
          </p:cNvPr>
          <p:cNvCxnSpPr>
            <a:cxnSpLocks/>
          </p:cNvCxnSpPr>
          <p:nvPr/>
        </p:nvCxnSpPr>
        <p:spPr>
          <a:xfrm>
            <a:off x="7483363" y="2270238"/>
            <a:ext cx="1870841" cy="367862"/>
          </a:xfrm>
          <a:prstGeom prst="bentConnector3">
            <a:avLst>
              <a:gd name="adj1" fmla="val 0"/>
            </a:avLst>
          </a:prstGeom>
          <a:ln w="25400">
            <a:solidFill>
              <a:srgbClr val="CC78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614246D-ED1E-2248-DC68-3063E4FCFFFB}"/>
              </a:ext>
            </a:extLst>
          </p:cNvPr>
          <p:cNvGrpSpPr/>
          <p:nvPr/>
        </p:nvGrpSpPr>
        <p:grpSpPr>
          <a:xfrm>
            <a:off x="1259647" y="5648987"/>
            <a:ext cx="4263219" cy="434109"/>
            <a:chOff x="5878945" y="1986136"/>
            <a:chExt cx="4263219" cy="434109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E1219926-2902-EFDC-326D-391E69D91CF3}"/>
                </a:ext>
              </a:extLst>
            </p:cNvPr>
            <p:cNvSpPr/>
            <p:nvPr/>
          </p:nvSpPr>
          <p:spPr>
            <a:xfrm>
              <a:off x="5878945" y="1986136"/>
              <a:ext cx="434109" cy="434109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55665C2-641A-0F02-4D99-F8283AF94278}"/>
                </a:ext>
              </a:extLst>
            </p:cNvPr>
            <p:cNvSpPr txBox="1"/>
            <p:nvPr/>
          </p:nvSpPr>
          <p:spPr>
            <a:xfrm>
              <a:off x="6316399" y="2065599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페이지네이션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기능을 추가한다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454D81E-D9B3-1DB6-04C1-6C08D53647E9}"/>
              </a:ext>
            </a:extLst>
          </p:cNvPr>
          <p:cNvCxnSpPr/>
          <p:nvPr/>
        </p:nvCxnSpPr>
        <p:spPr>
          <a:xfrm>
            <a:off x="3783721" y="5843752"/>
            <a:ext cx="472965" cy="0"/>
          </a:xfrm>
          <a:prstGeom prst="straightConnector1">
            <a:avLst/>
          </a:prstGeom>
          <a:ln w="25400">
            <a:solidFill>
              <a:srgbClr val="CC78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BDE8BC9D-8AB6-205A-BB6C-A8340090A916}"/>
              </a:ext>
            </a:extLst>
          </p:cNvPr>
          <p:cNvGrpSpPr/>
          <p:nvPr/>
        </p:nvGrpSpPr>
        <p:grpSpPr>
          <a:xfrm>
            <a:off x="3964390" y="2690325"/>
            <a:ext cx="4263219" cy="434109"/>
            <a:chOff x="5878945" y="1986136"/>
            <a:chExt cx="4263219" cy="434109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69E7EA9-DDDD-BCDB-0A25-2AF2273B9D85}"/>
                </a:ext>
              </a:extLst>
            </p:cNvPr>
            <p:cNvSpPr/>
            <p:nvPr/>
          </p:nvSpPr>
          <p:spPr>
            <a:xfrm>
              <a:off x="5878945" y="1986136"/>
              <a:ext cx="434109" cy="434109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C4ED429-9F40-ED6D-9794-03D034BAEA3D}"/>
                </a:ext>
              </a:extLst>
            </p:cNvPr>
            <p:cNvSpPr txBox="1"/>
            <p:nvPr/>
          </p:nvSpPr>
          <p:spPr>
            <a:xfrm>
              <a:off x="6316399" y="2065599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전일대비 증가면 삼각형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감소하면 역삼각형이 출력한다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12CBA942-B5BB-4AA2-A505-C453C1FD6FB3}"/>
              </a:ext>
            </a:extLst>
          </p:cNvPr>
          <p:cNvCxnSpPr>
            <a:cxnSpLocks/>
          </p:cNvCxnSpPr>
          <p:nvPr/>
        </p:nvCxnSpPr>
        <p:spPr>
          <a:xfrm rot="16200000" flipH="1">
            <a:off x="5433274" y="3298189"/>
            <a:ext cx="1153513" cy="658389"/>
          </a:xfrm>
          <a:prstGeom prst="bentConnector3">
            <a:avLst>
              <a:gd name="adj1" fmla="val 101025"/>
            </a:avLst>
          </a:prstGeom>
          <a:ln w="25400">
            <a:solidFill>
              <a:srgbClr val="CC78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172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F759ACB-E06E-7AB7-2276-6BEA39273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686" y="233730"/>
            <a:ext cx="9694627" cy="63905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" name="연결선: 꺾임 1">
            <a:extLst>
              <a:ext uri="{FF2B5EF4-FFF2-40B4-BE49-F238E27FC236}">
                <a16:creationId xmlns:a16="http://schemas.microsoft.com/office/drawing/2014/main" id="{9904724F-E020-BE86-CE5D-3A28EFFD197D}"/>
              </a:ext>
            </a:extLst>
          </p:cNvPr>
          <p:cNvCxnSpPr>
            <a:cxnSpLocks/>
          </p:cNvCxnSpPr>
          <p:nvPr/>
        </p:nvCxnSpPr>
        <p:spPr>
          <a:xfrm>
            <a:off x="7451832" y="2343810"/>
            <a:ext cx="1870841" cy="367862"/>
          </a:xfrm>
          <a:prstGeom prst="bentConnector3">
            <a:avLst>
              <a:gd name="adj1" fmla="val 0"/>
            </a:avLst>
          </a:prstGeom>
          <a:ln w="25400">
            <a:solidFill>
              <a:srgbClr val="CC78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87382986-9E66-46F8-EE4C-458ED1668925}"/>
              </a:ext>
            </a:extLst>
          </p:cNvPr>
          <p:cNvGrpSpPr/>
          <p:nvPr/>
        </p:nvGrpSpPr>
        <p:grpSpPr>
          <a:xfrm>
            <a:off x="5878945" y="1986136"/>
            <a:ext cx="4263219" cy="434109"/>
            <a:chOff x="5878945" y="1986136"/>
            <a:chExt cx="4263219" cy="43410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D2966A5B-2989-71BD-E9CF-5DFF091E7FBF}"/>
                </a:ext>
              </a:extLst>
            </p:cNvPr>
            <p:cNvSpPr/>
            <p:nvPr/>
          </p:nvSpPr>
          <p:spPr>
            <a:xfrm>
              <a:off x="5878945" y="1986136"/>
              <a:ext cx="434109" cy="434109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70441E-CC7E-4D36-8F32-1083FE0BDE21}"/>
                </a:ext>
              </a:extLst>
            </p:cNvPr>
            <p:cNvSpPr txBox="1"/>
            <p:nvPr/>
          </p:nvSpPr>
          <p:spPr>
            <a:xfrm>
              <a:off x="6316399" y="2065599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네이버 증권주요뉴스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TOP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4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종목을 실시간으로 수집한다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B51A731-8DE1-13DA-F5BB-238FF1BBACD9}"/>
              </a:ext>
            </a:extLst>
          </p:cNvPr>
          <p:cNvGrpSpPr/>
          <p:nvPr/>
        </p:nvGrpSpPr>
        <p:grpSpPr>
          <a:xfrm>
            <a:off x="7513307" y="4124993"/>
            <a:ext cx="4263219" cy="434109"/>
            <a:chOff x="5878945" y="1986136"/>
            <a:chExt cx="4263219" cy="434109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1BC3A0-1E92-45BA-C25B-BB0192D402D1}"/>
                </a:ext>
              </a:extLst>
            </p:cNvPr>
            <p:cNvSpPr/>
            <p:nvPr/>
          </p:nvSpPr>
          <p:spPr>
            <a:xfrm>
              <a:off x="5878945" y="1986136"/>
              <a:ext cx="434109" cy="434109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36DA3B-2B8B-F684-1A90-F3BB8DA73E36}"/>
                </a:ext>
              </a:extLst>
            </p:cNvPr>
            <p:cNvSpPr txBox="1"/>
            <p:nvPr/>
          </p:nvSpPr>
          <p:spPr>
            <a:xfrm>
              <a:off x="6316399" y="2065599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기사 보기 사이트로 이동한다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6B421475-F4B3-5231-8AA3-22A7418A47F2}"/>
              </a:ext>
            </a:extLst>
          </p:cNvPr>
          <p:cNvCxnSpPr>
            <a:cxnSpLocks/>
          </p:cNvCxnSpPr>
          <p:nvPr/>
        </p:nvCxnSpPr>
        <p:spPr>
          <a:xfrm flipH="1">
            <a:off x="6884276" y="4351283"/>
            <a:ext cx="620107" cy="0"/>
          </a:xfrm>
          <a:prstGeom prst="straightConnector1">
            <a:avLst/>
          </a:prstGeom>
          <a:ln w="25400">
            <a:solidFill>
              <a:srgbClr val="CC78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441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0F46D1-3899-21AA-32F9-5A238D8D7A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916" y="331101"/>
            <a:ext cx="10001133" cy="61537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" name="연결선: 꺾임 1">
            <a:extLst>
              <a:ext uri="{FF2B5EF4-FFF2-40B4-BE49-F238E27FC236}">
                <a16:creationId xmlns:a16="http://schemas.microsoft.com/office/drawing/2014/main" id="{A09C93AD-F9A1-D214-ED5E-CA53D1532C95}"/>
              </a:ext>
            </a:extLst>
          </p:cNvPr>
          <p:cNvCxnSpPr>
            <a:cxnSpLocks/>
          </p:cNvCxnSpPr>
          <p:nvPr/>
        </p:nvCxnSpPr>
        <p:spPr>
          <a:xfrm>
            <a:off x="7693566" y="2585547"/>
            <a:ext cx="1870841" cy="367862"/>
          </a:xfrm>
          <a:prstGeom prst="bentConnector3">
            <a:avLst>
              <a:gd name="adj1" fmla="val 0"/>
            </a:avLst>
          </a:prstGeom>
          <a:ln w="25400">
            <a:solidFill>
              <a:srgbClr val="CC78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FFDEA65B-73C0-32CF-944F-EB8A2D23D965}"/>
              </a:ext>
            </a:extLst>
          </p:cNvPr>
          <p:cNvGrpSpPr/>
          <p:nvPr/>
        </p:nvGrpSpPr>
        <p:grpSpPr>
          <a:xfrm>
            <a:off x="6078639" y="2227873"/>
            <a:ext cx="4263219" cy="434109"/>
            <a:chOff x="5878945" y="1986136"/>
            <a:chExt cx="4263219" cy="43410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775CDDA2-38A2-9F84-9E34-E39DB2FDD858}"/>
                </a:ext>
              </a:extLst>
            </p:cNvPr>
            <p:cNvSpPr/>
            <p:nvPr/>
          </p:nvSpPr>
          <p:spPr>
            <a:xfrm>
              <a:off x="5878945" y="1986136"/>
              <a:ext cx="434109" cy="434109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91002B-AED3-6F8C-7CA4-A498C52A3AC1}"/>
                </a:ext>
              </a:extLst>
            </p:cNvPr>
            <p:cNvSpPr txBox="1"/>
            <p:nvPr/>
          </p:nvSpPr>
          <p:spPr>
            <a:xfrm>
              <a:off x="6316399" y="2065599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할리스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전국 매장 정보를 실시간으로 수집한다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DB4C621-1DA1-BF0E-ED11-0045C0E4ECD1}"/>
              </a:ext>
            </a:extLst>
          </p:cNvPr>
          <p:cNvGrpSpPr/>
          <p:nvPr/>
        </p:nvGrpSpPr>
        <p:grpSpPr>
          <a:xfrm>
            <a:off x="1406789" y="5785624"/>
            <a:ext cx="4263219" cy="434109"/>
            <a:chOff x="5878945" y="1986136"/>
            <a:chExt cx="4263219" cy="434109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94B26AE-9A30-45F7-4230-709E77F0E93C}"/>
                </a:ext>
              </a:extLst>
            </p:cNvPr>
            <p:cNvSpPr/>
            <p:nvPr/>
          </p:nvSpPr>
          <p:spPr>
            <a:xfrm>
              <a:off x="5878945" y="1986136"/>
              <a:ext cx="434109" cy="434109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5E5B02-F3EE-6D5B-91CD-10A0F90C440E}"/>
                </a:ext>
              </a:extLst>
            </p:cNvPr>
            <p:cNvSpPr txBox="1"/>
            <p:nvPr/>
          </p:nvSpPr>
          <p:spPr>
            <a:xfrm>
              <a:off x="6316399" y="2065599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페이지네이션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기능을 추가한다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3C7E279-4233-8D1A-13A4-F2DCE37EB04B}"/>
              </a:ext>
            </a:extLst>
          </p:cNvPr>
          <p:cNvCxnSpPr/>
          <p:nvPr/>
        </p:nvCxnSpPr>
        <p:spPr>
          <a:xfrm>
            <a:off x="3930863" y="5980389"/>
            <a:ext cx="472965" cy="0"/>
          </a:xfrm>
          <a:prstGeom prst="straightConnector1">
            <a:avLst/>
          </a:prstGeom>
          <a:ln w="25400">
            <a:solidFill>
              <a:srgbClr val="CC78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734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6BBEA10-C9F5-7C17-7A90-93D9AEFC5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154" y="251899"/>
            <a:ext cx="9743001" cy="62037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C39F6BD2-38B6-B10E-56AD-BE4666D245E8}"/>
              </a:ext>
            </a:extLst>
          </p:cNvPr>
          <p:cNvGrpSpPr/>
          <p:nvPr/>
        </p:nvGrpSpPr>
        <p:grpSpPr>
          <a:xfrm>
            <a:off x="4911993" y="1944095"/>
            <a:ext cx="4263219" cy="434109"/>
            <a:chOff x="5878945" y="1986136"/>
            <a:chExt cx="4263219" cy="434109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9CE73B7-5CA4-C55C-7A84-AC810E49B3DF}"/>
                </a:ext>
              </a:extLst>
            </p:cNvPr>
            <p:cNvSpPr/>
            <p:nvPr/>
          </p:nvSpPr>
          <p:spPr>
            <a:xfrm>
              <a:off x="5878945" y="1986136"/>
              <a:ext cx="434109" cy="434109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D8DC7D3-EE28-6F73-BDAE-2ECF24E0EAF4}"/>
                </a:ext>
              </a:extLst>
            </p:cNvPr>
            <p:cNvSpPr txBox="1"/>
            <p:nvPr/>
          </p:nvSpPr>
          <p:spPr>
            <a:xfrm>
              <a:off x="6316399" y="2065599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할리스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커피메뉴 이미지를 실시간 수집하여 출력한다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BE562EF8-CA6F-0D48-04F9-478E96984D6A}"/>
              </a:ext>
            </a:extLst>
          </p:cNvPr>
          <p:cNvCxnSpPr>
            <a:cxnSpLocks/>
          </p:cNvCxnSpPr>
          <p:nvPr/>
        </p:nvCxnSpPr>
        <p:spPr>
          <a:xfrm flipH="1">
            <a:off x="4414335" y="2165133"/>
            <a:ext cx="472965" cy="0"/>
          </a:xfrm>
          <a:prstGeom prst="straightConnector1">
            <a:avLst/>
          </a:prstGeom>
          <a:ln w="25400">
            <a:solidFill>
              <a:srgbClr val="CC78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AC59A3E0-363D-AF34-6611-7A16BC7FC93C}"/>
              </a:ext>
            </a:extLst>
          </p:cNvPr>
          <p:cNvGrpSpPr/>
          <p:nvPr/>
        </p:nvGrpSpPr>
        <p:grpSpPr>
          <a:xfrm>
            <a:off x="7050847" y="5953791"/>
            <a:ext cx="4263219" cy="434109"/>
            <a:chOff x="5878945" y="1986136"/>
            <a:chExt cx="4263219" cy="434109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2BDD623E-70A6-AEEF-7FFD-089D30A05769}"/>
                </a:ext>
              </a:extLst>
            </p:cNvPr>
            <p:cNvSpPr/>
            <p:nvPr/>
          </p:nvSpPr>
          <p:spPr>
            <a:xfrm>
              <a:off x="5878945" y="1986136"/>
              <a:ext cx="434109" cy="434109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FE5D25A-5B51-63DA-3FD7-EC4DA6D1859D}"/>
                </a:ext>
              </a:extLst>
            </p:cNvPr>
            <p:cNvSpPr txBox="1"/>
            <p:nvPr/>
          </p:nvSpPr>
          <p:spPr>
            <a:xfrm>
              <a:off x="6316399" y="2065599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다음 페이지의 </a:t>
              </a:r>
              <a:r>
                <a:rPr lang="ko-KR" altLang="en-US" sz="1200" b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할리스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 커피메뉴들을 추가하여 출력한다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34995C8-E385-2BC6-BF7C-0B757D0FBF4C}"/>
              </a:ext>
            </a:extLst>
          </p:cNvPr>
          <p:cNvCxnSpPr>
            <a:cxnSpLocks/>
          </p:cNvCxnSpPr>
          <p:nvPr/>
        </p:nvCxnSpPr>
        <p:spPr>
          <a:xfrm flipH="1">
            <a:off x="6563700" y="6185341"/>
            <a:ext cx="472965" cy="0"/>
          </a:xfrm>
          <a:prstGeom prst="straightConnector1">
            <a:avLst/>
          </a:prstGeom>
          <a:ln w="25400">
            <a:solidFill>
              <a:srgbClr val="CC78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764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DF550427-0973-5CE9-5729-24132FA9D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124" y="334428"/>
            <a:ext cx="9782841" cy="61891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" name="연결선: 꺾임 1">
            <a:extLst>
              <a:ext uri="{FF2B5EF4-FFF2-40B4-BE49-F238E27FC236}">
                <a16:creationId xmlns:a16="http://schemas.microsoft.com/office/drawing/2014/main" id="{CD4891E6-204F-A453-C791-382F3DB21D6A}"/>
              </a:ext>
            </a:extLst>
          </p:cNvPr>
          <p:cNvCxnSpPr>
            <a:cxnSpLocks/>
          </p:cNvCxnSpPr>
          <p:nvPr/>
        </p:nvCxnSpPr>
        <p:spPr>
          <a:xfrm>
            <a:off x="7451832" y="2396360"/>
            <a:ext cx="1870841" cy="367862"/>
          </a:xfrm>
          <a:prstGeom prst="bentConnector3">
            <a:avLst>
              <a:gd name="adj1" fmla="val 0"/>
            </a:avLst>
          </a:prstGeom>
          <a:ln w="25400">
            <a:solidFill>
              <a:srgbClr val="CC78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3768F36A-1D50-1F9B-2DC2-84D660B64FFC}"/>
              </a:ext>
            </a:extLst>
          </p:cNvPr>
          <p:cNvGrpSpPr/>
          <p:nvPr/>
        </p:nvGrpSpPr>
        <p:grpSpPr>
          <a:xfrm>
            <a:off x="5878945" y="2038686"/>
            <a:ext cx="4263219" cy="434109"/>
            <a:chOff x="5878945" y="1986136"/>
            <a:chExt cx="4263219" cy="43410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E939C868-D3E8-CB04-552B-078C13184788}"/>
                </a:ext>
              </a:extLst>
            </p:cNvPr>
            <p:cNvSpPr/>
            <p:nvPr/>
          </p:nvSpPr>
          <p:spPr>
            <a:xfrm>
              <a:off x="5878945" y="1986136"/>
              <a:ext cx="434109" cy="434109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E1862D1-A7BA-ED58-ED03-AE998C2119D3}"/>
                </a:ext>
              </a:extLst>
            </p:cNvPr>
            <p:cNvSpPr txBox="1"/>
            <p:nvPr/>
          </p:nvSpPr>
          <p:spPr>
            <a:xfrm>
              <a:off x="6316399" y="2065599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네이버뉴스를 카테고리별로 실시간 수집하여 출력한다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39760F88-EF18-23DE-E0E5-1A3D1A7D171B}"/>
              </a:ext>
            </a:extLst>
          </p:cNvPr>
          <p:cNvGrpSpPr/>
          <p:nvPr/>
        </p:nvGrpSpPr>
        <p:grpSpPr>
          <a:xfrm>
            <a:off x="4554642" y="2742640"/>
            <a:ext cx="4263219" cy="434109"/>
            <a:chOff x="5878945" y="1986136"/>
            <a:chExt cx="4263219" cy="434109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B1163E6E-C662-FFFF-859F-AFB7062E4BA1}"/>
                </a:ext>
              </a:extLst>
            </p:cNvPr>
            <p:cNvSpPr/>
            <p:nvPr/>
          </p:nvSpPr>
          <p:spPr>
            <a:xfrm>
              <a:off x="5878945" y="1986136"/>
              <a:ext cx="434109" cy="434109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70B2FAE-2B79-ACE4-36AA-73E8419DF12B}"/>
                </a:ext>
              </a:extLst>
            </p:cNvPr>
            <p:cNvSpPr txBox="1"/>
            <p:nvPr/>
          </p:nvSpPr>
          <p:spPr>
            <a:xfrm>
              <a:off x="6316399" y="2065599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카테고리명을 클릭하면 해당 기사 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TOP 3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을 출력한다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B88E54A-FD24-2112-D050-060077FAE11B}"/>
              </a:ext>
            </a:extLst>
          </p:cNvPr>
          <p:cNvGrpSpPr/>
          <p:nvPr/>
        </p:nvGrpSpPr>
        <p:grpSpPr>
          <a:xfrm>
            <a:off x="5253580" y="4061689"/>
            <a:ext cx="4263219" cy="434109"/>
            <a:chOff x="5878945" y="1986136"/>
            <a:chExt cx="4263219" cy="434109"/>
          </a:xfrm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90D40B60-D35D-98E5-22BD-E1A2F4C3C0FA}"/>
                </a:ext>
              </a:extLst>
            </p:cNvPr>
            <p:cNvSpPr/>
            <p:nvPr/>
          </p:nvSpPr>
          <p:spPr>
            <a:xfrm>
              <a:off x="5878945" y="1986136"/>
              <a:ext cx="434109" cy="434109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8EDFF04-4E9F-04D1-6681-53E0A9176DB7}"/>
                </a:ext>
              </a:extLst>
            </p:cNvPr>
            <p:cNvSpPr txBox="1"/>
            <p:nvPr/>
          </p:nvSpPr>
          <p:spPr>
            <a:xfrm>
              <a:off x="6316399" y="2065599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기사 원문이 있는 사이트로 이동한다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BDCD64B6-C3CB-CAB3-58C1-098C51B40243}"/>
              </a:ext>
            </a:extLst>
          </p:cNvPr>
          <p:cNvCxnSpPr>
            <a:cxnSpLocks/>
          </p:cNvCxnSpPr>
          <p:nvPr/>
        </p:nvCxnSpPr>
        <p:spPr>
          <a:xfrm rot="10800000">
            <a:off x="3762704" y="4151587"/>
            <a:ext cx="1492473" cy="147139"/>
          </a:xfrm>
          <a:prstGeom prst="bentConnector3">
            <a:avLst>
              <a:gd name="adj1" fmla="val 99296"/>
            </a:avLst>
          </a:prstGeom>
          <a:ln w="25400">
            <a:solidFill>
              <a:srgbClr val="CC78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63CE00D9-39C4-D922-7D0A-BC7F7C11420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058511" y="2879832"/>
            <a:ext cx="1481961" cy="220720"/>
          </a:xfrm>
          <a:prstGeom prst="bentConnector3">
            <a:avLst>
              <a:gd name="adj1" fmla="val 100355"/>
            </a:avLst>
          </a:prstGeom>
          <a:ln w="25400">
            <a:solidFill>
              <a:srgbClr val="CC78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8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0B576B4-9CCE-37A2-4364-C78AA8F62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947" y="309930"/>
            <a:ext cx="9478105" cy="62381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" name="연결선: 꺾임 1">
            <a:extLst>
              <a:ext uri="{FF2B5EF4-FFF2-40B4-BE49-F238E27FC236}">
                <a16:creationId xmlns:a16="http://schemas.microsoft.com/office/drawing/2014/main" id="{59B19C17-9AC2-2DAD-52F7-589BBD50B4DF}"/>
              </a:ext>
            </a:extLst>
          </p:cNvPr>
          <p:cNvCxnSpPr>
            <a:cxnSpLocks/>
          </p:cNvCxnSpPr>
          <p:nvPr/>
        </p:nvCxnSpPr>
        <p:spPr>
          <a:xfrm>
            <a:off x="7451832" y="2396360"/>
            <a:ext cx="1870841" cy="367862"/>
          </a:xfrm>
          <a:prstGeom prst="bentConnector3">
            <a:avLst>
              <a:gd name="adj1" fmla="val 0"/>
            </a:avLst>
          </a:prstGeom>
          <a:ln w="25400">
            <a:solidFill>
              <a:srgbClr val="CC78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4F386655-E632-F811-7ADE-067B8125E47B}"/>
              </a:ext>
            </a:extLst>
          </p:cNvPr>
          <p:cNvGrpSpPr/>
          <p:nvPr/>
        </p:nvGrpSpPr>
        <p:grpSpPr>
          <a:xfrm>
            <a:off x="5878945" y="2038686"/>
            <a:ext cx="4263219" cy="434109"/>
            <a:chOff x="5878945" y="1986136"/>
            <a:chExt cx="4263219" cy="434109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7EA315EA-EBB8-EF82-F6B3-0BFE6F487A50}"/>
                </a:ext>
              </a:extLst>
            </p:cNvPr>
            <p:cNvSpPr/>
            <p:nvPr/>
          </p:nvSpPr>
          <p:spPr>
            <a:xfrm>
              <a:off x="5878945" y="1986136"/>
              <a:ext cx="434109" cy="434109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C94937B-FCE7-6006-9FBF-64D7BAD78292}"/>
                </a:ext>
              </a:extLst>
            </p:cNvPr>
            <p:cNvSpPr txBox="1"/>
            <p:nvPr/>
          </p:nvSpPr>
          <p:spPr>
            <a:xfrm>
              <a:off x="6316399" y="2065599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현재 위치 날씨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전국 날씨가 실시간 수집하여 출력한다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2D975C41-C08E-A72E-0715-2D492AB38586}"/>
              </a:ext>
            </a:extLst>
          </p:cNvPr>
          <p:cNvGrpSpPr/>
          <p:nvPr/>
        </p:nvGrpSpPr>
        <p:grpSpPr>
          <a:xfrm>
            <a:off x="5080159" y="3429000"/>
            <a:ext cx="4263219" cy="434109"/>
            <a:chOff x="5878945" y="1986136"/>
            <a:chExt cx="4263219" cy="434109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D526043D-93AD-66E1-A824-E452A02474D9}"/>
                </a:ext>
              </a:extLst>
            </p:cNvPr>
            <p:cNvSpPr/>
            <p:nvPr/>
          </p:nvSpPr>
          <p:spPr>
            <a:xfrm>
              <a:off x="5878945" y="1986136"/>
              <a:ext cx="434109" cy="434109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A931AC-6596-517D-8B7C-CE6A485B6F0E}"/>
                </a:ext>
              </a:extLst>
            </p:cNvPr>
            <p:cNvSpPr txBox="1"/>
            <p:nvPr/>
          </p:nvSpPr>
          <p:spPr>
            <a:xfrm>
              <a:off x="6316399" y="2065599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현재 지역의 기온과 날씨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아이콘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을 출력한다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 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ACF7474-0EC9-35C9-63BD-D50800640E45}"/>
              </a:ext>
            </a:extLst>
          </p:cNvPr>
          <p:cNvCxnSpPr>
            <a:cxnSpLocks/>
          </p:cNvCxnSpPr>
          <p:nvPr/>
        </p:nvCxnSpPr>
        <p:spPr>
          <a:xfrm flipH="1">
            <a:off x="4603520" y="3636583"/>
            <a:ext cx="472965" cy="0"/>
          </a:xfrm>
          <a:prstGeom prst="straightConnector1">
            <a:avLst/>
          </a:prstGeom>
          <a:ln w="25400">
            <a:solidFill>
              <a:srgbClr val="CC78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66A21A7-7795-D2EA-6CBE-580159BA0760}"/>
              </a:ext>
            </a:extLst>
          </p:cNvPr>
          <p:cNvGrpSpPr/>
          <p:nvPr/>
        </p:nvGrpSpPr>
        <p:grpSpPr>
          <a:xfrm>
            <a:off x="4055401" y="4285593"/>
            <a:ext cx="4263219" cy="434109"/>
            <a:chOff x="5878945" y="1986136"/>
            <a:chExt cx="4263219" cy="434109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760871C-594D-73B9-582B-5AB53041014E}"/>
                </a:ext>
              </a:extLst>
            </p:cNvPr>
            <p:cNvSpPr/>
            <p:nvPr/>
          </p:nvSpPr>
          <p:spPr>
            <a:xfrm>
              <a:off x="5878945" y="1986136"/>
              <a:ext cx="434109" cy="434109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F4CB9AE-D4C2-A0E5-5B3A-CE01A5628B6E}"/>
                </a:ext>
              </a:extLst>
            </p:cNvPr>
            <p:cNvSpPr txBox="1"/>
            <p:nvPr/>
          </p:nvSpPr>
          <p:spPr>
            <a:xfrm>
              <a:off x="6316399" y="2065599"/>
              <a:ext cx="38257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전국 기온과 날씨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(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아이콘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)</a:t>
              </a:r>
              <a:r>
                <a:rPr lang="ko-KR" altLang="en-US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을 출력한다</a:t>
              </a:r>
              <a:r>
                <a:rPr lang="en-US" altLang="ko-KR" sz="12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. </a:t>
              </a:r>
              <a:endPara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7CB8A849-F949-1A85-354E-40C209E6375A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38097" y="4466895"/>
            <a:ext cx="1408386" cy="262760"/>
          </a:xfrm>
          <a:prstGeom prst="bentConnector3">
            <a:avLst>
              <a:gd name="adj1" fmla="val 50000"/>
            </a:avLst>
          </a:prstGeom>
          <a:ln w="25400">
            <a:solidFill>
              <a:srgbClr val="CC78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8222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133</Words>
  <Application>Microsoft Office PowerPoint</Application>
  <PresentationFormat>와이드스크린</PresentationFormat>
  <Paragraphs>33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Noto Sans KR</vt:lpstr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조향덕</dc:creator>
  <cp:lastModifiedBy>조향덕</cp:lastModifiedBy>
  <cp:revision>10</cp:revision>
  <dcterms:created xsi:type="dcterms:W3CDTF">2026-06-02T10:54:11Z</dcterms:created>
  <dcterms:modified xsi:type="dcterms:W3CDTF">2026-06-07T13:47:51Z</dcterms:modified>
</cp:coreProperties>
</file>